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3.xml" ContentType="application/vnd.openxmlformats-officedocument.theme+xml"/>
  <Override PartName="/ppt/slideLayouts/slideLayout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 id="2147483683" r:id="rId5"/>
    <p:sldMasterId id="2147483691" r:id="rId6"/>
    <p:sldMasterId id="2147483701" r:id="rId7"/>
  </p:sldMasterIdLst>
  <p:notesMasterIdLst>
    <p:notesMasterId r:id="rId27"/>
  </p:notesMasterIdLst>
  <p:handoutMasterIdLst>
    <p:handoutMasterId r:id="rId28"/>
  </p:handoutMasterIdLst>
  <p:sldIdLst>
    <p:sldId id="278" r:id="rId8"/>
    <p:sldId id="265" r:id="rId9"/>
    <p:sldId id="297" r:id="rId10"/>
    <p:sldId id="300" r:id="rId11"/>
    <p:sldId id="303" r:id="rId12"/>
    <p:sldId id="298" r:id="rId13"/>
    <p:sldId id="283" r:id="rId14"/>
    <p:sldId id="287" r:id="rId15"/>
    <p:sldId id="290" r:id="rId16"/>
    <p:sldId id="292" r:id="rId17"/>
    <p:sldId id="293" r:id="rId18"/>
    <p:sldId id="294" r:id="rId19"/>
    <p:sldId id="302" r:id="rId20"/>
    <p:sldId id="285" r:id="rId21"/>
    <p:sldId id="301" r:id="rId22"/>
    <p:sldId id="291" r:id="rId23"/>
    <p:sldId id="295" r:id="rId24"/>
    <p:sldId id="284" r:id="rId25"/>
    <p:sldId id="264" r:id="rId26"/>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7085"/>
    <a:srgbClr val="215F9A"/>
    <a:srgbClr val="D3D3D3"/>
    <a:srgbClr val="0026AD"/>
    <a:srgbClr val="0C111D"/>
    <a:srgbClr val="026A94"/>
    <a:srgbClr val="2B3145"/>
    <a:srgbClr val="196B24"/>
    <a:srgbClr val="000000"/>
    <a:srgbClr val="A6A6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86AA90-CF09-3E49-B852-7F2161F99A59}" v="1227" dt="2025-04-30T19:40:36.211"/>
    <p1510:client id="{32E3685F-1B56-2846-A9F7-397440D70441}" v="1333" dt="2025-04-30T20:12:28.484"/>
    <p1510:client id="{3BC16C0C-8EF9-37F9-86DC-F50F1CACDA83}" v="95" dt="2025-04-30T19:21:41.890"/>
    <p1510:client id="{63131BE8-6B10-0628-CA20-749BF576D26E}" v="65" dt="2025-04-30T00:24:10.294"/>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 Type="http://schemas.openxmlformats.org/officeDocument/2006/relationships/customXml" Target="../customXml/item3.xml"/><Relationship Id="rId21" Type="http://schemas.openxmlformats.org/officeDocument/2006/relationships/slide" Target="slides/slide14.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handoutMaster" Target="handoutMasters/handoutMaster1.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F776777-533F-1F46-17A6-3CD27BC5F08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262E372-6FA1-A1FB-D81A-004BBB5AB85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25BA313-476D-7C4B-929B-B38D84B0F007}" type="datetimeFigureOut">
              <a:rPr lang="en-US" smtClean="0"/>
              <a:t>4/30/2025</a:t>
            </a:fld>
            <a:endParaRPr lang="en-US"/>
          </a:p>
        </p:txBody>
      </p:sp>
      <p:sp>
        <p:nvSpPr>
          <p:cNvPr id="4" name="Footer Placeholder 3">
            <a:extLst>
              <a:ext uri="{FF2B5EF4-FFF2-40B4-BE49-F238E27FC236}">
                <a16:creationId xmlns:a16="http://schemas.microsoft.com/office/drawing/2014/main" id="{569B3795-CB85-2700-647A-D0D13EEBCD6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C15590F-FAEF-DBF2-01E0-01CE91F946E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7A69087-9585-DD40-9CDA-0E0C83725E4D}" type="slidenum">
              <a:rPr lang="en-US" smtClean="0"/>
              <a:t>‹#›</a:t>
            </a:fld>
            <a:endParaRPr lang="en-US"/>
          </a:p>
        </p:txBody>
      </p:sp>
    </p:spTree>
    <p:extLst>
      <p:ext uri="{BB962C8B-B14F-4D97-AF65-F5344CB8AC3E}">
        <p14:creationId xmlns:p14="http://schemas.microsoft.com/office/powerpoint/2010/main" val="18993611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91" name="Shape 191"/>
          <p:cNvSpPr>
            <a:spLocks noGrp="1" noRot="1" noChangeAspect="1"/>
          </p:cNvSpPr>
          <p:nvPr>
            <p:ph type="sldImg"/>
          </p:nvPr>
        </p:nvSpPr>
        <p:spPr>
          <a:xfrm>
            <a:off x="1143000" y="685800"/>
            <a:ext cx="4572000" cy="3429000"/>
          </a:xfrm>
          <a:prstGeom prst="rect">
            <a:avLst/>
          </a:prstGeom>
        </p:spPr>
        <p:txBody>
          <a:bodyPr/>
          <a:lstStyle/>
          <a:p>
            <a:endParaRPr/>
          </a:p>
        </p:txBody>
      </p:sp>
      <p:sp>
        <p:nvSpPr>
          <p:cNvPr id="192" name="Shape 19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03411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3DF8F-8993-08C3-81DA-C0D082DBE3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D487B2-F5E1-E20F-138B-521F8E00788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007D7CB-26F9-D097-F54E-F8198C21680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0457804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48024429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eneral">
    <p:bg>
      <p:bgPr>
        <a:blipFill dpi="0" rotWithShape="1">
          <a:blip r:embed="rId2">
            <a:lum/>
          </a:blip>
          <a:srcRect/>
          <a:stretch>
            <a:fillRect t="-11000" b="-11000"/>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ECB57ED-E388-2261-7CAC-43D04883C264}"/>
              </a:ext>
            </a:extLst>
          </p:cNvPr>
          <p:cNvSpPr/>
          <p:nvPr userDrawn="1"/>
        </p:nvSpPr>
        <p:spPr>
          <a:xfrm>
            <a:off x="0" y="0"/>
            <a:ext cx="24384000" cy="13716000"/>
          </a:xfrm>
          <a:prstGeom prst="rect">
            <a:avLst/>
          </a:prstGeom>
          <a:solidFill>
            <a:srgbClr val="0C111D">
              <a:alpha val="84706"/>
            </a:srgb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1" name="Author and Date"/>
          <p:cNvSpPr txBox="1">
            <a:spLocks noGrp="1"/>
          </p:cNvSpPr>
          <p:nvPr>
            <p:ph type="body" sz="quarter" idx="21" hasCustomPrompt="1"/>
          </p:nvPr>
        </p:nvSpPr>
        <p:spPr>
          <a:xfrm>
            <a:off x="1201340" y="12154552"/>
            <a:ext cx="22530530" cy="636979"/>
          </a:xfrm>
          <a:prstGeom prst="rect">
            <a:avLst/>
          </a:prstGeom>
        </p:spPr>
        <p:txBody>
          <a:bodyPr lIns="0" tIns="45719" rIns="45719" bIns="45719"/>
          <a:lstStyle>
            <a:lvl1pPr marL="0" indent="0" defTabSz="825500">
              <a:lnSpc>
                <a:spcPct val="100000"/>
              </a:lnSpc>
              <a:spcBef>
                <a:spcPts val="0"/>
              </a:spcBef>
              <a:buSzTx/>
              <a:buNone/>
              <a:defRPr sz="3600" b="0" i="0">
                <a:solidFill>
                  <a:srgbClr val="D5D5D5"/>
                </a:solidFill>
                <a:latin typeface="Poppins Medium" pitchFamily="2" charset="77"/>
                <a:cs typeface="Poppins Medium" pitchFamily="2" charset="77"/>
              </a:defRPr>
            </a:lvl1pPr>
          </a:lstStyle>
          <a:p>
            <a:r>
              <a:t>Author and Date</a:t>
            </a:r>
          </a:p>
        </p:txBody>
      </p:sp>
      <p:sp>
        <p:nvSpPr>
          <p:cNvPr id="12" name="Presentation Title"/>
          <p:cNvSpPr txBox="1">
            <a:spLocks noGrp="1"/>
          </p:cNvSpPr>
          <p:nvPr>
            <p:ph type="title" hasCustomPrompt="1"/>
          </p:nvPr>
        </p:nvSpPr>
        <p:spPr>
          <a:xfrm>
            <a:off x="1206496" y="2574991"/>
            <a:ext cx="22525374" cy="4648201"/>
          </a:xfrm>
          <a:prstGeom prst="rect">
            <a:avLst/>
          </a:prstGeom>
        </p:spPr>
        <p:txBody>
          <a:bodyPr lIns="0" anchor="b"/>
          <a:lstStyle>
            <a:lvl1pPr>
              <a:defRPr sz="11600" b="1" i="0" spc="-232">
                <a:solidFill>
                  <a:schemeClr val="tx1"/>
                </a:solidFill>
                <a:latin typeface="Inter SemiBold" panose="02000503000000020004" pitchFamily="2" charset="0"/>
                <a:ea typeface="Inter SemiBold" panose="02000503000000020004" pitchFamily="2" charset="0"/>
              </a:defRPr>
            </a:lvl1pPr>
          </a:lstStyle>
          <a:p>
            <a:r>
              <a:t>Presentation Title</a:t>
            </a:r>
          </a:p>
        </p:txBody>
      </p:sp>
      <p:sp>
        <p:nvSpPr>
          <p:cNvPr id="13" name="Body Level One…"/>
          <p:cNvSpPr txBox="1">
            <a:spLocks noGrp="1"/>
          </p:cNvSpPr>
          <p:nvPr>
            <p:ph type="body" sz="quarter" idx="1" hasCustomPrompt="1"/>
          </p:nvPr>
        </p:nvSpPr>
        <p:spPr>
          <a:xfrm>
            <a:off x="1201342" y="7223190"/>
            <a:ext cx="22530528" cy="1905001"/>
          </a:xfrm>
          <a:prstGeom prst="rect">
            <a:avLst/>
          </a:prstGeom>
        </p:spPr>
        <p:txBody>
          <a:bodyPr lIns="0"/>
          <a:lstStyle>
            <a:lvl1pPr marL="0" indent="0" defTabSz="825500">
              <a:lnSpc>
                <a:spcPct val="100000"/>
              </a:lnSpc>
              <a:spcBef>
                <a:spcPts val="0"/>
              </a:spcBef>
              <a:buSzTx/>
              <a:buNone/>
              <a:defRPr sz="5500" b="0" i="0">
                <a:solidFill>
                  <a:srgbClr val="D5D5D5"/>
                </a:solidFill>
                <a:latin typeface="Inter Medium" panose="02000503000000020004" pitchFamily="2" charset="0"/>
                <a:ea typeface="Inter Medium" panose="02000503000000020004" pitchFamily="2" charset="0"/>
                <a:cs typeface="Poppins Medium" pitchFamily="2" charset="77"/>
              </a:defRPr>
            </a:lvl1pPr>
            <a:lvl2pPr marL="0" indent="457200" defTabSz="825500">
              <a:lnSpc>
                <a:spcPct val="100000"/>
              </a:lnSpc>
              <a:spcBef>
                <a:spcPts val="0"/>
              </a:spcBef>
              <a:buSzTx/>
              <a:buNone/>
              <a:defRPr sz="5500" b="0" i="0">
                <a:solidFill>
                  <a:srgbClr val="D5D5D5"/>
                </a:solidFill>
                <a:latin typeface="Poppins Medium" pitchFamily="2" charset="77"/>
                <a:cs typeface="Poppins Medium" pitchFamily="2" charset="77"/>
              </a:defRPr>
            </a:lvl2pPr>
            <a:lvl3pPr marL="0" indent="914400" defTabSz="825500">
              <a:lnSpc>
                <a:spcPct val="100000"/>
              </a:lnSpc>
              <a:spcBef>
                <a:spcPts val="0"/>
              </a:spcBef>
              <a:buSzTx/>
              <a:buNone/>
              <a:defRPr sz="5500" b="0" i="0">
                <a:solidFill>
                  <a:srgbClr val="D5D5D5"/>
                </a:solidFill>
                <a:latin typeface="Poppins Medium" pitchFamily="2" charset="77"/>
                <a:cs typeface="Poppins Medium" pitchFamily="2" charset="77"/>
              </a:defRPr>
            </a:lvl3pPr>
            <a:lvl4pPr marL="0" indent="1371600" defTabSz="825500">
              <a:lnSpc>
                <a:spcPct val="100000"/>
              </a:lnSpc>
              <a:spcBef>
                <a:spcPts val="0"/>
              </a:spcBef>
              <a:buSzTx/>
              <a:buNone/>
              <a:defRPr sz="5500" b="0" i="0">
                <a:solidFill>
                  <a:srgbClr val="D5D5D5"/>
                </a:solidFill>
                <a:latin typeface="Poppins Medium" pitchFamily="2" charset="77"/>
                <a:cs typeface="Poppins Medium" pitchFamily="2" charset="77"/>
              </a:defRPr>
            </a:lvl4pPr>
            <a:lvl5pPr marL="0" indent="1828800" defTabSz="825500">
              <a:lnSpc>
                <a:spcPct val="100000"/>
              </a:lnSpc>
              <a:spcBef>
                <a:spcPts val="0"/>
              </a:spcBef>
              <a:buSzTx/>
              <a:buNone/>
              <a:defRPr sz="5500" b="0" i="0">
                <a:solidFill>
                  <a:srgbClr val="D5D5D5"/>
                </a:solidFill>
                <a:latin typeface="Poppins Medium" pitchFamily="2" charset="77"/>
                <a:cs typeface="Poppins Medium" pitchFamily="2" charset="77"/>
              </a:defRPr>
            </a:lvl5pPr>
          </a:lstStyle>
          <a:p>
            <a:r>
              <a:t>Presentation Subtitle</a:t>
            </a:r>
          </a:p>
          <a:p>
            <a:pPr lvl="1"/>
            <a:endParaRPr/>
          </a:p>
          <a:p>
            <a:pPr lvl="2"/>
            <a:endParaRPr/>
          </a:p>
          <a:p>
            <a:pPr lvl="3"/>
            <a:endParaRPr/>
          </a:p>
          <a:p>
            <a:pPr lvl="4"/>
            <a:endParaRPr/>
          </a:p>
        </p:txBody>
      </p:sp>
      <p:pic>
        <p:nvPicPr>
          <p:cNvPr id="4" name="Picture 3">
            <a:extLst>
              <a:ext uri="{FF2B5EF4-FFF2-40B4-BE49-F238E27FC236}">
                <a16:creationId xmlns:a16="http://schemas.microsoft.com/office/drawing/2014/main" id="{4D62AAA5-C244-1EAD-2BC7-07AD55BBB3F3}"/>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22145552" y="13080986"/>
            <a:ext cx="1642508" cy="226659"/>
          </a:xfrm>
          <a:prstGeom prst="rect">
            <a:avLst/>
          </a:prstGeom>
        </p:spPr>
      </p:pic>
      <p:cxnSp>
        <p:nvCxnSpPr>
          <p:cNvPr id="5" name="Straight Connector 4">
            <a:extLst>
              <a:ext uri="{FF2B5EF4-FFF2-40B4-BE49-F238E27FC236}">
                <a16:creationId xmlns:a16="http://schemas.microsoft.com/office/drawing/2014/main" id="{53947A55-4C4D-D6EC-C9AF-68C36E3CB15D}"/>
              </a:ext>
            </a:extLst>
          </p:cNvPr>
          <p:cNvCxnSpPr/>
          <p:nvPr userDrawn="1"/>
        </p:nvCxnSpPr>
        <p:spPr>
          <a:xfrm>
            <a:off x="1201340" y="12855388"/>
            <a:ext cx="22530530" cy="0"/>
          </a:xfrm>
          <a:prstGeom prst="line">
            <a:avLst/>
          </a:prstGeom>
          <a:noFill/>
          <a:ln w="12700" cap="flat">
            <a:solidFill>
              <a:schemeClr val="bg2">
                <a:lumMod val="75000"/>
              </a:schemeClr>
            </a:solidFill>
            <a:prstDash val="solid"/>
            <a:miter lim="400000"/>
          </a:ln>
          <a:effectLst/>
          <a:sp3d/>
        </p:spPr>
        <p:style>
          <a:lnRef idx="0">
            <a:scrgbClr r="0" g="0" b="0"/>
          </a:lnRef>
          <a:fillRef idx="0">
            <a:scrgbClr r="0" g="0" b="0"/>
          </a:fillRef>
          <a:effectRef idx="0">
            <a:scrgbClr r="0" g="0" b="0"/>
          </a:effectRef>
          <a:fontRef idx="none"/>
        </p:style>
      </p:cxnSp>
      <p:sp>
        <p:nvSpPr>
          <p:cNvPr id="8" name="TextBox 7">
            <a:extLst>
              <a:ext uri="{FF2B5EF4-FFF2-40B4-BE49-F238E27FC236}">
                <a16:creationId xmlns:a16="http://schemas.microsoft.com/office/drawing/2014/main" id="{CBC97255-0884-8B0D-FB68-1CBD2DCBF4ED}"/>
              </a:ext>
            </a:extLst>
          </p:cNvPr>
          <p:cNvSpPr txBox="1"/>
          <p:nvPr userDrawn="1"/>
        </p:nvSpPr>
        <p:spPr>
          <a:xfrm>
            <a:off x="1201340" y="12983103"/>
            <a:ext cx="12192000"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0" rIns="0">
            <a:spAutoFit/>
          </a:bodyPr>
          <a:lstStyle/>
          <a:p>
            <a:pPr algn="l"/>
            <a:r>
              <a:rPr lang="en-US" sz="1200">
                <a:solidFill>
                  <a:srgbClr val="D3D3D3"/>
                </a:solidFill>
              </a:rPr>
              <a:t>© 2025 </a:t>
            </a:r>
            <a:r>
              <a:rPr lang="en-US" sz="1200" err="1">
                <a:solidFill>
                  <a:srgbClr val="D3D3D3"/>
                </a:solidFill>
              </a:rPr>
              <a:t>Traders@SMU</a:t>
            </a:r>
            <a:r>
              <a:rPr lang="en-US" sz="1200">
                <a:solidFill>
                  <a:srgbClr val="D3D3D3"/>
                </a:solidFill>
              </a:rPr>
              <a:t> | CONFIDENTIAL</a:t>
            </a:r>
          </a:p>
        </p:txBody>
      </p:sp>
    </p:spTree>
    <p:extLst>
      <p:ext uri="{BB962C8B-B14F-4D97-AF65-F5344CB8AC3E}">
        <p14:creationId xmlns:p14="http://schemas.microsoft.com/office/powerpoint/2010/main" val="3672506428"/>
      </p:ext>
    </p:extLst>
  </p:cSld>
  <p:clrMapOvr>
    <a:overrideClrMapping bg1="lt1" tx1="dk1" bg2="lt2" tx2="dk2" accent1="accent1" accent2="accent2" accent3="accent3" accent4="accent4" accent5="accent5" accent6="accent6" hlink="hlink" folHlink="folHlink"/>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efaul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BC3A6-6A17-140C-B78A-254C03D6AAC6}"/>
              </a:ext>
            </a:extLst>
          </p:cNvPr>
          <p:cNvSpPr>
            <a:spLocks noGrp="1"/>
          </p:cNvSpPr>
          <p:nvPr>
            <p:ph type="title" hasCustomPrompt="1"/>
          </p:nvPr>
        </p:nvSpPr>
        <p:spPr>
          <a:xfrm>
            <a:off x="914399" y="1143000"/>
            <a:ext cx="21031201" cy="1371600"/>
          </a:xfrm>
        </p:spPr>
        <p:txBody>
          <a:bodyPr anchor="ctr">
            <a:normAutofit/>
          </a:bodyPr>
          <a:lstStyle>
            <a:lvl1pPr>
              <a:defRPr sz="7200"/>
            </a:lvl1pPr>
          </a:lstStyle>
          <a:p>
            <a:r>
              <a:rPr lang="en-US"/>
              <a:t>Click To Edit Master Title Style</a:t>
            </a:r>
          </a:p>
        </p:txBody>
      </p:sp>
      <p:sp>
        <p:nvSpPr>
          <p:cNvPr id="3" name="Content Placeholder 2">
            <a:extLst>
              <a:ext uri="{FF2B5EF4-FFF2-40B4-BE49-F238E27FC236}">
                <a16:creationId xmlns:a16="http://schemas.microsoft.com/office/drawing/2014/main" id="{B948B25D-BC1D-522F-3028-8FB5F20EBEA5}"/>
              </a:ext>
            </a:extLst>
          </p:cNvPr>
          <p:cNvSpPr>
            <a:spLocks noGrp="1"/>
          </p:cNvSpPr>
          <p:nvPr>
            <p:ph idx="1"/>
          </p:nvPr>
        </p:nvSpPr>
        <p:spPr>
          <a:xfrm>
            <a:off x="914400" y="3209366"/>
            <a:ext cx="22481241" cy="914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a:extLst>
              <a:ext uri="{FF2B5EF4-FFF2-40B4-BE49-F238E27FC236}">
                <a16:creationId xmlns:a16="http://schemas.microsoft.com/office/drawing/2014/main" id="{8593ACEC-1DC6-3319-BB64-6F7F26DF7F54}"/>
              </a:ext>
            </a:extLst>
          </p:cNvPr>
          <p:cNvSpPr>
            <a:spLocks noGrp="1"/>
          </p:cNvSpPr>
          <p:nvPr>
            <p:ph type="body" sz="quarter" idx="13" hasCustomPrompt="1"/>
          </p:nvPr>
        </p:nvSpPr>
        <p:spPr>
          <a:xfrm>
            <a:off x="914399" y="685799"/>
            <a:ext cx="6741459" cy="457200"/>
          </a:xfrm>
        </p:spPr>
        <p:txBody>
          <a:bodyPr anchor="ctr">
            <a:noAutofit/>
          </a:bodyPr>
          <a:lstStyle>
            <a:lvl1pPr marL="0" indent="0">
              <a:buNone/>
              <a:defRPr sz="2400" b="1" i="0" spc="600">
                <a:solidFill>
                  <a:schemeClr val="tx2">
                    <a:lumMod val="75000"/>
                    <a:lumOff val="25000"/>
                  </a:schemeClr>
                </a:solidFill>
                <a:latin typeface="Inter" panose="02000503000000020004" pitchFamily="2" charset="0"/>
                <a:ea typeface="Inter" panose="02000503000000020004" pitchFamily="2" charset="0"/>
                <a:cs typeface="Poppins" pitchFamily="2" charset="77"/>
              </a:defRPr>
            </a:lvl1pPr>
            <a:lvl2pPr marL="457200" indent="0">
              <a:buNone/>
              <a:defRPr sz="2400" b="1" i="0">
                <a:solidFill>
                  <a:srgbClr val="026A94"/>
                </a:solidFill>
                <a:latin typeface="Poppins" pitchFamily="2" charset="77"/>
                <a:cs typeface="Poppins" pitchFamily="2" charset="77"/>
              </a:defRPr>
            </a:lvl2pPr>
            <a:lvl3pPr marL="914400" indent="0">
              <a:buNone/>
              <a:defRPr sz="2400" b="1" i="0">
                <a:solidFill>
                  <a:srgbClr val="026A94"/>
                </a:solidFill>
                <a:latin typeface="Poppins" pitchFamily="2" charset="77"/>
                <a:cs typeface="Poppins" pitchFamily="2" charset="77"/>
              </a:defRPr>
            </a:lvl3pPr>
            <a:lvl4pPr marL="1371600" indent="0">
              <a:buNone/>
              <a:defRPr sz="2400" b="1" i="0">
                <a:solidFill>
                  <a:srgbClr val="026A94"/>
                </a:solidFill>
                <a:latin typeface="Poppins" pitchFamily="2" charset="77"/>
                <a:cs typeface="Poppins" pitchFamily="2" charset="77"/>
              </a:defRPr>
            </a:lvl4pPr>
            <a:lvl5pPr marL="1828800" indent="0">
              <a:buNone/>
              <a:defRPr sz="2400" b="1" i="0">
                <a:solidFill>
                  <a:srgbClr val="026A94"/>
                </a:solidFill>
                <a:latin typeface="Poppins" pitchFamily="2" charset="77"/>
                <a:cs typeface="Poppins" pitchFamily="2" charset="77"/>
              </a:defRPr>
            </a:lvl5pPr>
          </a:lstStyle>
          <a:p>
            <a:pPr lvl="0"/>
            <a:r>
              <a:rPr lang="en-US"/>
              <a:t>CLICK TO EDIT MASTER TEXT </a:t>
            </a:r>
          </a:p>
        </p:txBody>
      </p:sp>
      <p:sp>
        <p:nvSpPr>
          <p:cNvPr id="14" name="Slide Number">
            <a:extLst>
              <a:ext uri="{FF2B5EF4-FFF2-40B4-BE49-F238E27FC236}">
                <a16:creationId xmlns:a16="http://schemas.microsoft.com/office/drawing/2014/main" id="{E3029983-65FA-A49F-7DE4-4080D73632D3}"/>
              </a:ext>
            </a:extLst>
          </p:cNvPr>
          <p:cNvSpPr txBox="1">
            <a:spLocks noGrp="1"/>
          </p:cNvSpPr>
          <p:nvPr>
            <p:ph type="sldNum" sz="quarter" idx="2"/>
          </p:nvPr>
        </p:nvSpPr>
        <p:spPr>
          <a:xfrm>
            <a:off x="11869820" y="13059225"/>
            <a:ext cx="631660" cy="409277"/>
          </a:xfrm>
          <a:prstGeom prst="rect">
            <a:avLst/>
          </a:prstGeom>
        </p:spPr>
        <p:txBody>
          <a:bodyPr anchor="ctr"/>
          <a:lstStyle>
            <a:lvl1pPr>
              <a:defRPr sz="1400">
                <a:solidFill>
                  <a:srgbClr val="D3D3D3"/>
                </a:solidFill>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037395791"/>
      </p:ext>
    </p:extLst>
  </p:cSld>
  <p:clrMapOvr>
    <a:masterClrMapping/>
  </p:clrMapOvr>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9D7139-5A64-A10F-2EAB-BD702394E4E5}"/>
              </a:ext>
            </a:extLst>
          </p:cNvPr>
          <p:cNvSpPr>
            <a:spLocks noGrp="1"/>
          </p:cNvSpPr>
          <p:nvPr>
            <p:ph sz="half" idx="1"/>
          </p:nvPr>
        </p:nvSpPr>
        <p:spPr>
          <a:xfrm>
            <a:off x="914400" y="3209365"/>
            <a:ext cx="10327342" cy="91469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91B195-19A4-1223-7B33-C6B612B2CD5E}"/>
              </a:ext>
            </a:extLst>
          </p:cNvPr>
          <p:cNvSpPr>
            <a:spLocks noGrp="1"/>
          </p:cNvSpPr>
          <p:nvPr>
            <p:ph sz="half" idx="2"/>
          </p:nvPr>
        </p:nvSpPr>
        <p:spPr>
          <a:xfrm>
            <a:off x="13142258" y="3209365"/>
            <a:ext cx="10327342" cy="91469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a:extLst>
              <a:ext uri="{FF2B5EF4-FFF2-40B4-BE49-F238E27FC236}">
                <a16:creationId xmlns:a16="http://schemas.microsoft.com/office/drawing/2014/main" id="{D426FA0E-AED5-5ACC-6263-82A574D87B8B}"/>
              </a:ext>
            </a:extLst>
          </p:cNvPr>
          <p:cNvSpPr>
            <a:spLocks noGrp="1"/>
          </p:cNvSpPr>
          <p:nvPr>
            <p:ph type="body" sz="quarter" idx="13" hasCustomPrompt="1"/>
          </p:nvPr>
        </p:nvSpPr>
        <p:spPr>
          <a:xfrm>
            <a:off x="914399" y="685800"/>
            <a:ext cx="6741459" cy="457200"/>
          </a:xfrm>
        </p:spPr>
        <p:txBody>
          <a:bodyPr anchor="ctr">
            <a:noAutofit/>
          </a:bodyPr>
          <a:lstStyle>
            <a:lvl1pPr marL="0" indent="0">
              <a:buNone/>
              <a:defRPr sz="2400" b="1" i="0" spc="600">
                <a:solidFill>
                  <a:schemeClr val="tx2">
                    <a:lumMod val="75000"/>
                    <a:lumOff val="25000"/>
                  </a:schemeClr>
                </a:solidFill>
                <a:latin typeface="Inter" panose="02000503000000020004" pitchFamily="2" charset="0"/>
                <a:ea typeface="Inter" panose="02000503000000020004" pitchFamily="2" charset="0"/>
                <a:cs typeface="Poppins" pitchFamily="2" charset="77"/>
              </a:defRPr>
            </a:lvl1pPr>
            <a:lvl2pPr marL="457200" indent="0">
              <a:buNone/>
              <a:defRPr sz="2400" b="1" i="0">
                <a:solidFill>
                  <a:srgbClr val="026A94"/>
                </a:solidFill>
                <a:latin typeface="Poppins" pitchFamily="2" charset="77"/>
                <a:cs typeface="Poppins" pitchFamily="2" charset="77"/>
              </a:defRPr>
            </a:lvl2pPr>
            <a:lvl3pPr marL="914400" indent="0">
              <a:buNone/>
              <a:defRPr sz="2400" b="1" i="0">
                <a:solidFill>
                  <a:srgbClr val="026A94"/>
                </a:solidFill>
                <a:latin typeface="Poppins" pitchFamily="2" charset="77"/>
                <a:cs typeface="Poppins" pitchFamily="2" charset="77"/>
              </a:defRPr>
            </a:lvl3pPr>
            <a:lvl4pPr marL="1371600" indent="0">
              <a:buNone/>
              <a:defRPr sz="2400" b="1" i="0">
                <a:solidFill>
                  <a:srgbClr val="026A94"/>
                </a:solidFill>
                <a:latin typeface="Poppins" pitchFamily="2" charset="77"/>
                <a:cs typeface="Poppins" pitchFamily="2" charset="77"/>
              </a:defRPr>
            </a:lvl4pPr>
            <a:lvl5pPr marL="1828800" indent="0">
              <a:buNone/>
              <a:defRPr sz="2400" b="1" i="0">
                <a:solidFill>
                  <a:srgbClr val="026A94"/>
                </a:solidFill>
                <a:latin typeface="Poppins" pitchFamily="2" charset="77"/>
                <a:cs typeface="Poppins" pitchFamily="2" charset="77"/>
              </a:defRPr>
            </a:lvl5pPr>
          </a:lstStyle>
          <a:p>
            <a:pPr lvl="0"/>
            <a:r>
              <a:rPr lang="en-US"/>
              <a:t>CLICK TO EDIT MASTER TEXT </a:t>
            </a:r>
          </a:p>
        </p:txBody>
      </p:sp>
      <p:sp>
        <p:nvSpPr>
          <p:cNvPr id="11" name="Slide Number">
            <a:extLst>
              <a:ext uri="{FF2B5EF4-FFF2-40B4-BE49-F238E27FC236}">
                <a16:creationId xmlns:a16="http://schemas.microsoft.com/office/drawing/2014/main" id="{E4D1432D-D7E0-7FBA-904B-A22566B27F70}"/>
              </a:ext>
            </a:extLst>
          </p:cNvPr>
          <p:cNvSpPr txBox="1">
            <a:spLocks noGrp="1"/>
          </p:cNvSpPr>
          <p:nvPr>
            <p:ph type="sldNum" sz="quarter" idx="14"/>
          </p:nvPr>
        </p:nvSpPr>
        <p:spPr>
          <a:xfrm>
            <a:off x="11869820" y="13059225"/>
            <a:ext cx="631660" cy="409277"/>
          </a:xfrm>
          <a:prstGeom prst="rect">
            <a:avLst/>
          </a:prstGeom>
        </p:spPr>
        <p:txBody>
          <a:bodyPr anchor="ctr"/>
          <a:lstStyle>
            <a:lvl1pPr>
              <a:defRPr sz="1400">
                <a:solidFill>
                  <a:srgbClr val="D3D3D3"/>
                </a:solidFill>
              </a:defRPr>
            </a:lvl1pPr>
          </a:lstStyle>
          <a:p>
            <a:fld id="{86CB4B4D-7CA3-9044-876B-883B54F8677D}" type="slidenum">
              <a:rPr lang="en-US" smtClean="0"/>
              <a:pPr/>
              <a:t>‹#›</a:t>
            </a:fld>
            <a:endParaRPr lang="en-US"/>
          </a:p>
        </p:txBody>
      </p:sp>
      <p:sp>
        <p:nvSpPr>
          <p:cNvPr id="12" name="Title 1">
            <a:extLst>
              <a:ext uri="{FF2B5EF4-FFF2-40B4-BE49-F238E27FC236}">
                <a16:creationId xmlns:a16="http://schemas.microsoft.com/office/drawing/2014/main" id="{5E0526D6-879B-8512-B5E0-7F149445EC8F}"/>
              </a:ext>
            </a:extLst>
          </p:cNvPr>
          <p:cNvSpPr>
            <a:spLocks noGrp="1"/>
          </p:cNvSpPr>
          <p:nvPr>
            <p:ph type="title" hasCustomPrompt="1"/>
          </p:nvPr>
        </p:nvSpPr>
        <p:spPr>
          <a:xfrm>
            <a:off x="914399" y="1143000"/>
            <a:ext cx="21031201" cy="1371600"/>
          </a:xfrm>
        </p:spPr>
        <p:txBody>
          <a:bodyPr anchor="ctr">
            <a:normAutofit/>
          </a:bodyPr>
          <a:lstStyle>
            <a:lvl1pPr>
              <a:defRPr sz="7200"/>
            </a:lvl1pPr>
          </a:lstStyle>
          <a:p>
            <a:r>
              <a:rPr lang="en-US"/>
              <a:t>Click To Edit Master Title Style</a:t>
            </a:r>
          </a:p>
        </p:txBody>
      </p:sp>
    </p:spTree>
    <p:extLst>
      <p:ext uri="{BB962C8B-B14F-4D97-AF65-F5344CB8AC3E}">
        <p14:creationId xmlns:p14="http://schemas.microsoft.com/office/powerpoint/2010/main" val="155327770"/>
      </p:ext>
    </p:extLst>
  </p:cSld>
  <p:clrMapOvr>
    <a:masterClrMapping/>
  </p:clrMapOvr>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ener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BC3A6-6A17-140C-B78A-254C03D6AAC6}"/>
              </a:ext>
            </a:extLst>
          </p:cNvPr>
          <p:cNvSpPr>
            <a:spLocks noGrp="1"/>
          </p:cNvSpPr>
          <p:nvPr>
            <p:ph type="title" hasCustomPrompt="1"/>
          </p:nvPr>
        </p:nvSpPr>
        <p:spPr>
          <a:xfrm>
            <a:off x="914401" y="5876364"/>
            <a:ext cx="10381129" cy="2286000"/>
          </a:xfrm>
        </p:spPr>
        <p:txBody>
          <a:bodyPr anchor="t">
            <a:normAutofit/>
          </a:bodyPr>
          <a:lstStyle>
            <a:lvl1pPr>
              <a:defRPr sz="7200"/>
            </a:lvl1pPr>
          </a:lstStyle>
          <a:p>
            <a:r>
              <a:rPr lang="en-US"/>
              <a:t>Click To Edit Master Title Style</a:t>
            </a:r>
          </a:p>
        </p:txBody>
      </p:sp>
      <p:sp>
        <p:nvSpPr>
          <p:cNvPr id="8" name="Text Placeholder 7">
            <a:extLst>
              <a:ext uri="{FF2B5EF4-FFF2-40B4-BE49-F238E27FC236}">
                <a16:creationId xmlns:a16="http://schemas.microsoft.com/office/drawing/2014/main" id="{8593ACEC-1DC6-3319-BB64-6F7F26DF7F54}"/>
              </a:ext>
            </a:extLst>
          </p:cNvPr>
          <p:cNvSpPr>
            <a:spLocks noGrp="1"/>
          </p:cNvSpPr>
          <p:nvPr>
            <p:ph type="body" sz="quarter" idx="13" hasCustomPrompt="1"/>
          </p:nvPr>
        </p:nvSpPr>
        <p:spPr>
          <a:xfrm>
            <a:off x="914401" y="5419164"/>
            <a:ext cx="10381129" cy="457200"/>
          </a:xfrm>
        </p:spPr>
        <p:txBody>
          <a:bodyPr anchor="ctr">
            <a:noAutofit/>
          </a:bodyPr>
          <a:lstStyle>
            <a:lvl1pPr marL="0" indent="0">
              <a:buNone/>
              <a:defRPr sz="2400" b="1" i="0" spc="600">
                <a:solidFill>
                  <a:schemeClr val="tx2">
                    <a:lumMod val="75000"/>
                    <a:lumOff val="25000"/>
                  </a:schemeClr>
                </a:solidFill>
                <a:latin typeface="Poppins" pitchFamily="2" charset="77"/>
                <a:cs typeface="Poppins" pitchFamily="2" charset="77"/>
              </a:defRPr>
            </a:lvl1pPr>
            <a:lvl2pPr marL="457200" indent="0">
              <a:buNone/>
              <a:defRPr sz="2400" b="1" i="0">
                <a:solidFill>
                  <a:srgbClr val="026A94"/>
                </a:solidFill>
                <a:latin typeface="Poppins" pitchFamily="2" charset="77"/>
                <a:cs typeface="Poppins" pitchFamily="2" charset="77"/>
              </a:defRPr>
            </a:lvl2pPr>
            <a:lvl3pPr marL="914400" indent="0">
              <a:buNone/>
              <a:defRPr sz="2400" b="1" i="0">
                <a:solidFill>
                  <a:srgbClr val="026A94"/>
                </a:solidFill>
                <a:latin typeface="Poppins" pitchFamily="2" charset="77"/>
                <a:cs typeface="Poppins" pitchFamily="2" charset="77"/>
              </a:defRPr>
            </a:lvl3pPr>
            <a:lvl4pPr marL="1371600" indent="0">
              <a:buNone/>
              <a:defRPr sz="2400" b="1" i="0">
                <a:solidFill>
                  <a:srgbClr val="026A94"/>
                </a:solidFill>
                <a:latin typeface="Poppins" pitchFamily="2" charset="77"/>
                <a:cs typeface="Poppins" pitchFamily="2" charset="77"/>
              </a:defRPr>
            </a:lvl4pPr>
            <a:lvl5pPr marL="1828800" indent="0">
              <a:buNone/>
              <a:defRPr sz="2400" b="1" i="0">
                <a:solidFill>
                  <a:srgbClr val="026A94"/>
                </a:solidFill>
                <a:latin typeface="Poppins" pitchFamily="2" charset="77"/>
                <a:cs typeface="Poppins" pitchFamily="2" charset="77"/>
              </a:defRPr>
            </a:lvl5pPr>
          </a:lstStyle>
          <a:p>
            <a:pPr lvl="0"/>
            <a:r>
              <a:rPr lang="en-US"/>
              <a:t>CLICK TO EDIT MASTER TEXT </a:t>
            </a:r>
          </a:p>
        </p:txBody>
      </p:sp>
      <p:sp>
        <p:nvSpPr>
          <p:cNvPr id="5" name="Slide Number">
            <a:extLst>
              <a:ext uri="{FF2B5EF4-FFF2-40B4-BE49-F238E27FC236}">
                <a16:creationId xmlns:a16="http://schemas.microsoft.com/office/drawing/2014/main" id="{BED4083A-D6B9-AA23-8113-C671D5AC6F98}"/>
              </a:ext>
            </a:extLst>
          </p:cNvPr>
          <p:cNvSpPr txBox="1">
            <a:spLocks noGrp="1"/>
          </p:cNvSpPr>
          <p:nvPr>
            <p:ph type="sldNum" sz="quarter" idx="14"/>
          </p:nvPr>
        </p:nvSpPr>
        <p:spPr>
          <a:xfrm>
            <a:off x="11869820" y="13059225"/>
            <a:ext cx="631660" cy="409277"/>
          </a:xfrm>
          <a:prstGeom prst="rect">
            <a:avLst/>
          </a:prstGeom>
        </p:spPr>
        <p:txBody>
          <a:bodyPr anchor="ctr"/>
          <a:lstStyle>
            <a:lvl1pPr>
              <a:defRPr sz="1400">
                <a:solidFill>
                  <a:srgbClr val="D3D3D3"/>
                </a:solidFill>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030865050"/>
      </p:ext>
    </p:extLst>
  </p:cSld>
  <p:clrMapOvr>
    <a:masterClrMapping/>
  </p:clrMapOvr>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General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BC3A6-6A17-140C-B78A-254C03D6AAC6}"/>
              </a:ext>
            </a:extLst>
          </p:cNvPr>
          <p:cNvSpPr>
            <a:spLocks noGrp="1"/>
          </p:cNvSpPr>
          <p:nvPr>
            <p:ph type="title" hasCustomPrompt="1"/>
          </p:nvPr>
        </p:nvSpPr>
        <p:spPr>
          <a:xfrm>
            <a:off x="914400" y="1143000"/>
            <a:ext cx="10381129" cy="2286000"/>
          </a:xfrm>
        </p:spPr>
        <p:txBody>
          <a:bodyPr anchor="t">
            <a:normAutofit/>
          </a:bodyPr>
          <a:lstStyle>
            <a:lvl1pPr>
              <a:defRPr sz="7200"/>
            </a:lvl1pPr>
          </a:lstStyle>
          <a:p>
            <a:r>
              <a:rPr lang="en-US"/>
              <a:t>Click To Edit Master Title Style</a:t>
            </a:r>
          </a:p>
        </p:txBody>
      </p:sp>
      <p:sp>
        <p:nvSpPr>
          <p:cNvPr id="8" name="Text Placeholder 7">
            <a:extLst>
              <a:ext uri="{FF2B5EF4-FFF2-40B4-BE49-F238E27FC236}">
                <a16:creationId xmlns:a16="http://schemas.microsoft.com/office/drawing/2014/main" id="{8593ACEC-1DC6-3319-BB64-6F7F26DF7F54}"/>
              </a:ext>
            </a:extLst>
          </p:cNvPr>
          <p:cNvSpPr>
            <a:spLocks noGrp="1"/>
          </p:cNvSpPr>
          <p:nvPr>
            <p:ph type="body" sz="quarter" idx="13" hasCustomPrompt="1"/>
          </p:nvPr>
        </p:nvSpPr>
        <p:spPr>
          <a:xfrm>
            <a:off x="914399" y="685800"/>
            <a:ext cx="10381129" cy="457200"/>
          </a:xfrm>
        </p:spPr>
        <p:txBody>
          <a:bodyPr anchor="ctr">
            <a:noAutofit/>
          </a:bodyPr>
          <a:lstStyle>
            <a:lvl1pPr marL="0" indent="0">
              <a:buNone/>
              <a:defRPr sz="2400" b="1" i="0" spc="600">
                <a:solidFill>
                  <a:schemeClr val="tx2">
                    <a:lumMod val="75000"/>
                    <a:lumOff val="25000"/>
                  </a:schemeClr>
                </a:solidFill>
                <a:latin typeface="Inter" panose="02000503000000020004" pitchFamily="2" charset="0"/>
                <a:ea typeface="Inter" panose="02000503000000020004" pitchFamily="2" charset="0"/>
                <a:cs typeface="Poppins" pitchFamily="2" charset="77"/>
              </a:defRPr>
            </a:lvl1pPr>
            <a:lvl2pPr marL="457200" indent="0">
              <a:buNone/>
              <a:defRPr sz="2400" b="1" i="0">
                <a:solidFill>
                  <a:srgbClr val="026A94"/>
                </a:solidFill>
                <a:latin typeface="Poppins" pitchFamily="2" charset="77"/>
                <a:cs typeface="Poppins" pitchFamily="2" charset="77"/>
              </a:defRPr>
            </a:lvl2pPr>
            <a:lvl3pPr marL="914400" indent="0">
              <a:buNone/>
              <a:defRPr sz="2400" b="1" i="0">
                <a:solidFill>
                  <a:srgbClr val="026A94"/>
                </a:solidFill>
                <a:latin typeface="Poppins" pitchFamily="2" charset="77"/>
                <a:cs typeface="Poppins" pitchFamily="2" charset="77"/>
              </a:defRPr>
            </a:lvl3pPr>
            <a:lvl4pPr marL="1371600" indent="0">
              <a:buNone/>
              <a:defRPr sz="2400" b="1" i="0">
                <a:solidFill>
                  <a:srgbClr val="026A94"/>
                </a:solidFill>
                <a:latin typeface="Poppins" pitchFamily="2" charset="77"/>
                <a:cs typeface="Poppins" pitchFamily="2" charset="77"/>
              </a:defRPr>
            </a:lvl4pPr>
            <a:lvl5pPr marL="1828800" indent="0">
              <a:buNone/>
              <a:defRPr sz="2400" b="1" i="0">
                <a:solidFill>
                  <a:srgbClr val="026A94"/>
                </a:solidFill>
                <a:latin typeface="Poppins" pitchFamily="2" charset="77"/>
                <a:cs typeface="Poppins" pitchFamily="2" charset="77"/>
              </a:defRPr>
            </a:lvl5pPr>
          </a:lstStyle>
          <a:p>
            <a:pPr lvl="0"/>
            <a:r>
              <a:rPr lang="en-US"/>
              <a:t>CLICK TO EDIT MASTER TEXT </a:t>
            </a:r>
          </a:p>
        </p:txBody>
      </p:sp>
      <p:pic>
        <p:nvPicPr>
          <p:cNvPr id="3" name="Picture 2">
            <a:extLst>
              <a:ext uri="{FF2B5EF4-FFF2-40B4-BE49-F238E27FC236}">
                <a16:creationId xmlns:a16="http://schemas.microsoft.com/office/drawing/2014/main" id="{95FA3695-C6C3-6C1E-A6C2-E05C7E726E01}"/>
              </a:ext>
            </a:extLst>
          </p:cNvPr>
          <p:cNvPicPr>
            <a:picLocks noChangeAspect="1"/>
          </p:cNvPicPr>
          <p:nvPr userDrawn="1"/>
        </p:nvPicPr>
        <p:blipFill>
          <a:blip r:embed="rId2">
            <a:extLst>
              <a:ext uri="{28A0092B-C50C-407E-A947-70E740481C1C}">
                <a14:useLocalDpi xmlns:a14="http://schemas.microsoft.com/office/drawing/2010/main" val="0"/>
              </a:ext>
            </a:extLst>
          </a:blip>
          <a:srcRect l="17127" r="17127"/>
          <a:stretch/>
        </p:blipFill>
        <p:spPr>
          <a:xfrm>
            <a:off x="12266382" y="0"/>
            <a:ext cx="13037657" cy="13716000"/>
          </a:xfrm>
          <a:prstGeom prst="rect">
            <a:avLst/>
          </a:prstGeom>
        </p:spPr>
      </p:pic>
      <p:sp>
        <p:nvSpPr>
          <p:cNvPr id="6" name="Rectangle 5">
            <a:extLst>
              <a:ext uri="{FF2B5EF4-FFF2-40B4-BE49-F238E27FC236}">
                <a16:creationId xmlns:a16="http://schemas.microsoft.com/office/drawing/2014/main" id="{01988D3D-5496-22F7-3C2C-365C0644652D}"/>
              </a:ext>
            </a:extLst>
          </p:cNvPr>
          <p:cNvSpPr/>
          <p:nvPr userDrawn="1"/>
        </p:nvSpPr>
        <p:spPr>
          <a:xfrm>
            <a:off x="12266382" y="0"/>
            <a:ext cx="13037657" cy="13716000"/>
          </a:xfrm>
          <a:prstGeom prst="rect">
            <a:avLst/>
          </a:prstGeom>
          <a:solidFill>
            <a:schemeClr val="tx1">
              <a:alpha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0" name="Text Placeholder 9">
            <a:extLst>
              <a:ext uri="{FF2B5EF4-FFF2-40B4-BE49-F238E27FC236}">
                <a16:creationId xmlns:a16="http://schemas.microsoft.com/office/drawing/2014/main" id="{600F98A0-D6C1-5488-4341-E74D3B851E1A}"/>
              </a:ext>
            </a:extLst>
          </p:cNvPr>
          <p:cNvSpPr>
            <a:spLocks noGrp="1"/>
          </p:cNvSpPr>
          <p:nvPr>
            <p:ph type="body" sz="quarter" idx="15"/>
          </p:nvPr>
        </p:nvSpPr>
        <p:spPr>
          <a:xfrm>
            <a:off x="914400" y="3886200"/>
            <a:ext cx="10380663" cy="8490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00664033"/>
      </p:ext>
    </p:extLst>
  </p:cSld>
  <p:clrMapOvr>
    <a:masterClrMapping/>
  </p:clrMapOvr>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General1">
    <p:bg>
      <p:bgPr>
        <a:blipFill dpi="0" rotWithShape="1">
          <a:blip r:embed="rId2">
            <a:lum/>
          </a:blip>
          <a:srcRect/>
          <a:stretch>
            <a:fillRect t="-11000" b="-11000"/>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29E2FA4-E544-D2EB-A0FC-11608BB1FF68}"/>
              </a:ext>
            </a:extLst>
          </p:cNvPr>
          <p:cNvSpPr/>
          <p:nvPr userDrawn="1"/>
        </p:nvSpPr>
        <p:spPr>
          <a:xfrm>
            <a:off x="0" y="0"/>
            <a:ext cx="24384000" cy="13716000"/>
          </a:xfrm>
          <a:prstGeom prst="rect">
            <a:avLst/>
          </a:prstGeom>
          <a:solidFill>
            <a:srgbClr val="0C111D">
              <a:alpha val="85000"/>
            </a:srgb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Disclaimer - This is a preliminary draft for discussion purposes only and is not intended for public or media distribution. Warranty - Bonjoy, LLC and its affiliates offer no warranty regarding the information in this draft; and in no circumstances will ">
            <a:extLst>
              <a:ext uri="{FF2B5EF4-FFF2-40B4-BE49-F238E27FC236}">
                <a16:creationId xmlns:a16="http://schemas.microsoft.com/office/drawing/2014/main" id="{EE8DE6D1-3953-2F21-D710-12914EBE492C}"/>
              </a:ext>
            </a:extLst>
          </p:cNvPr>
          <p:cNvSpPr txBox="1"/>
          <p:nvPr userDrawn="1"/>
        </p:nvSpPr>
        <p:spPr>
          <a:xfrm>
            <a:off x="1201340" y="11800123"/>
            <a:ext cx="22736622" cy="83322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lc="http://schemas.openxmlformats.org/drawingml/2006/lockedCanvas" xmlns="" val="1"/>
            </a:ext>
          </a:extLst>
        </p:spPr>
        <p:txBody>
          <a:bodyPr wrap="square" lIns="12531" tIns="12531" rIns="12531" bIns="12531"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a:lstStyle>
          <a:p>
            <a:pPr algn="just"/>
            <a:r>
              <a:rPr lang="en-US" sz="1050">
                <a:solidFill>
                  <a:schemeClr val="bg2">
                    <a:lumMod val="75000"/>
                  </a:schemeClr>
                </a:solidFill>
                <a:latin typeface="Poppins" pitchFamily="2" charset="77"/>
                <a:cs typeface="Poppins" pitchFamily="2" charset="77"/>
              </a:rPr>
              <a:t>© 2025 Southern Methodist University | CONFIDENTIAL: This presentation and its contents are proprietary and confidential information belonging to </a:t>
            </a:r>
            <a:r>
              <a:rPr lang="en-US" sz="1050" err="1">
                <a:solidFill>
                  <a:schemeClr val="bg2">
                    <a:lumMod val="75000"/>
                  </a:schemeClr>
                </a:solidFill>
                <a:latin typeface="Poppins" pitchFamily="2" charset="77"/>
                <a:cs typeface="Poppins" pitchFamily="2" charset="77"/>
              </a:rPr>
              <a:t>Traders@SMU</a:t>
            </a:r>
            <a:r>
              <a:rPr lang="en-US" sz="1050">
                <a:solidFill>
                  <a:schemeClr val="bg2">
                    <a:lumMod val="75000"/>
                  </a:schemeClr>
                </a:solidFill>
                <a:latin typeface="Poppins" pitchFamily="2" charset="77"/>
                <a:cs typeface="Poppins" pitchFamily="2" charset="77"/>
              </a:rPr>
              <a:t>. The materials may contain sensitive information protected by applicable laws and regulations. Unauthorized use, disclosure, or distribution of this document or any of its contents is strictly prohibited. If you are not the intended recipient, please notify the sender immediately and delete this document along with any copies in your possession. Any unauthorized review, use, disclosure, or distribution is prohibited and may result in legal action. While every effort has been made to ensure the accuracy and reliability of the information presented, </a:t>
            </a:r>
            <a:r>
              <a:rPr lang="en-US" sz="1050" err="1">
                <a:solidFill>
                  <a:schemeClr val="bg2">
                    <a:lumMod val="75000"/>
                  </a:schemeClr>
                </a:solidFill>
                <a:latin typeface="Poppins" pitchFamily="2" charset="77"/>
                <a:cs typeface="Poppins" pitchFamily="2" charset="77"/>
              </a:rPr>
              <a:t>Traders@SMU</a:t>
            </a:r>
            <a:r>
              <a:rPr lang="en-US" sz="1050">
                <a:solidFill>
                  <a:schemeClr val="bg2">
                    <a:lumMod val="75000"/>
                  </a:schemeClr>
                </a:solidFill>
                <a:latin typeface="Poppins" pitchFamily="2" charset="77"/>
                <a:cs typeface="Poppins" pitchFamily="2" charset="77"/>
              </a:rPr>
              <a:t> makes no representations or warranties of any kind, express or implied, regarding its completeness or suitability. All information is provided "as is" without any warranty. This presentation may contain forward-looking statements regarding future events or performance. These statements involve risks and uncertainties that could cause actual results to differ materially from those expressed or implied. In no event shall </a:t>
            </a:r>
            <a:r>
              <a:rPr lang="en-US" sz="1050" err="1">
                <a:solidFill>
                  <a:schemeClr val="bg2">
                    <a:lumMod val="75000"/>
                  </a:schemeClr>
                </a:solidFill>
                <a:latin typeface="Poppins" pitchFamily="2" charset="77"/>
                <a:cs typeface="Poppins" pitchFamily="2" charset="77"/>
              </a:rPr>
              <a:t>Traders@SMU</a:t>
            </a:r>
            <a:r>
              <a:rPr lang="en-US" sz="1050">
                <a:solidFill>
                  <a:schemeClr val="bg2">
                    <a:lumMod val="75000"/>
                  </a:schemeClr>
                </a:solidFill>
                <a:latin typeface="Poppins" pitchFamily="2" charset="77"/>
                <a:cs typeface="Poppins" pitchFamily="2" charset="77"/>
              </a:rPr>
              <a:t> or Southern Methodist University be liable for any direct, indirect, incidental, special, consequential, or punitive damages arising out of or related to the use of this presentation or its contents. For questions regarding this presentation or its contents, please contact </a:t>
            </a:r>
            <a:r>
              <a:rPr lang="en-US" sz="1050" err="1">
                <a:solidFill>
                  <a:schemeClr val="bg2">
                    <a:lumMod val="75000"/>
                  </a:schemeClr>
                </a:solidFill>
                <a:latin typeface="Poppins" pitchFamily="2" charset="77"/>
                <a:cs typeface="Poppins" pitchFamily="2" charset="77"/>
              </a:rPr>
              <a:t>Traders@SMU</a:t>
            </a:r>
            <a:r>
              <a:rPr lang="en-US" sz="1050">
                <a:solidFill>
                  <a:schemeClr val="bg2">
                    <a:lumMod val="75000"/>
                  </a:schemeClr>
                </a:solidFill>
                <a:latin typeface="Poppins" pitchFamily="2" charset="77"/>
                <a:cs typeface="Poppins" pitchFamily="2" charset="77"/>
              </a:rPr>
              <a:t>.</a:t>
            </a:r>
          </a:p>
        </p:txBody>
      </p:sp>
      <p:cxnSp>
        <p:nvCxnSpPr>
          <p:cNvPr id="15" name="Straight Connector 14">
            <a:extLst>
              <a:ext uri="{FF2B5EF4-FFF2-40B4-BE49-F238E27FC236}">
                <a16:creationId xmlns:a16="http://schemas.microsoft.com/office/drawing/2014/main" id="{B8541D7D-14D2-9CC9-5361-3B6109E5ABB9}"/>
              </a:ext>
            </a:extLst>
          </p:cNvPr>
          <p:cNvCxnSpPr/>
          <p:nvPr userDrawn="1"/>
        </p:nvCxnSpPr>
        <p:spPr>
          <a:xfrm>
            <a:off x="1201340" y="12855388"/>
            <a:ext cx="22530530" cy="0"/>
          </a:xfrm>
          <a:prstGeom prst="line">
            <a:avLst/>
          </a:prstGeom>
          <a:noFill/>
          <a:ln w="12700" cap="flat">
            <a:solidFill>
              <a:schemeClr val="bg2">
                <a:lumMod val="75000"/>
              </a:schemeClr>
            </a:solidFill>
            <a:prstDash val="solid"/>
            <a:miter lim="400000"/>
          </a:ln>
          <a:effectLst/>
          <a:sp3d/>
        </p:spPr>
        <p:style>
          <a:lnRef idx="0">
            <a:scrgbClr r="0" g="0" b="0"/>
          </a:lnRef>
          <a:fillRef idx="0">
            <a:scrgbClr r="0" g="0" b="0"/>
          </a:fillRef>
          <a:effectRef idx="0">
            <a:scrgbClr r="0" g="0" b="0"/>
          </a:effectRef>
          <a:fontRef idx="none"/>
        </p:style>
      </p:cxnSp>
      <p:pic>
        <p:nvPicPr>
          <p:cNvPr id="3" name="Picture 2">
            <a:extLst>
              <a:ext uri="{FF2B5EF4-FFF2-40B4-BE49-F238E27FC236}">
                <a16:creationId xmlns:a16="http://schemas.microsoft.com/office/drawing/2014/main" id="{4295DB26-4C39-DFFB-3330-0B6E49A56DF6}"/>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7196692" y="6079793"/>
            <a:ext cx="10253532" cy="1414943"/>
          </a:xfrm>
          <a:prstGeom prst="rect">
            <a:avLst/>
          </a:prstGeom>
        </p:spPr>
      </p:pic>
    </p:spTree>
    <p:extLst>
      <p:ext uri="{BB962C8B-B14F-4D97-AF65-F5344CB8AC3E}">
        <p14:creationId xmlns:p14="http://schemas.microsoft.com/office/powerpoint/2010/main" val="2267106217"/>
      </p:ext>
    </p:extLst>
  </p:cSld>
  <p:clrMapOvr>
    <a:masterClrMapping/>
  </p:clrMapOvr>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5.xml"/><Relationship Id="rId1" Type="http://schemas.openxmlformats.org/officeDocument/2006/relationships/slideLayout" Target="../slideLayouts/slideLayout4.xml"/><Relationship Id="rId5" Type="http://schemas.openxmlformats.org/officeDocument/2006/relationships/image" Target="../media/image4.svg"/><Relationship Id="rId4" Type="http://schemas.openxmlformats.org/officeDocument/2006/relationships/image" Target="../media/image3.png"/></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441451"/>
            <a:ext cx="21971000" cy="82550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50800" rIns="50800" bIns="50800">
            <a:normAutofit/>
          </a:bodyPr>
          <a:lstStyle/>
          <a:p>
            <a:r>
              <a:rPr lang="en-US"/>
              <a:t>Slide Title</a:t>
            </a:r>
            <a:endParaRP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50800" rIns="50800" bIns="50800">
            <a:normAutofit/>
          </a:bodyPr>
          <a:lstStyle/>
          <a:p>
            <a:r>
              <a:t>Slide bullet text</a:t>
            </a:r>
            <a:endParaRPr lang="en-US"/>
          </a:p>
          <a:p>
            <a:pPr lvl="1"/>
            <a:endParaRPr/>
          </a:p>
          <a:p>
            <a:pPr lvl="3"/>
            <a:endParaRPr/>
          </a:p>
          <a:p>
            <a:pPr lvl="4"/>
            <a:endParaRPr/>
          </a:p>
        </p:txBody>
      </p:sp>
    </p:spTree>
  </p:cSld>
  <p:clrMap bg1="lt1" tx1="dk1" bg2="lt2" tx2="dk2" accent1="accent1" accent2="accent2" accent3="accent3" accent4="accent4" accent5="accent5" accent6="accent6" hlink="hlink" folHlink="folHlink"/>
  <p:sldLayoutIdLst>
    <p:sldLayoutId id="2147483670" r:id="rId1"/>
  </p:sldLayoutIdLst>
  <p:transition spd="med"/>
  <p:hf hdr="0" ftr="0" dt="0"/>
  <p:txStyles>
    <p:titleStyle>
      <a:lvl1pPr marL="0" marR="0" indent="0" algn="l" defTabSz="2438338" rtl="0" eaLnBrk="1" latinLnBrk="0" hangingPunct="1">
        <a:lnSpc>
          <a:spcPct val="80000"/>
        </a:lnSpc>
        <a:spcBef>
          <a:spcPts val="0"/>
        </a:spcBef>
        <a:spcAft>
          <a:spcPts val="0"/>
        </a:spcAft>
        <a:buClrTx/>
        <a:buSzTx/>
        <a:buFontTx/>
        <a:buNone/>
        <a:tabLst/>
        <a:defRPr sz="7200" b="1" i="0" u="none" strike="noStrike" cap="none" spc="-170" baseline="0">
          <a:solidFill>
            <a:srgbClr val="2B3145"/>
          </a:solidFill>
          <a:uFillTx/>
          <a:latin typeface="Inter" panose="02000503000000020004" pitchFamily="2" charset="0"/>
          <a:ea typeface="Inter" panose="02000503000000020004" pitchFamily="2" charset="0"/>
          <a:cs typeface="Poppins SemiBold" pitchFamily="2" charset="77"/>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150000"/>
        </a:lnSpc>
        <a:spcBef>
          <a:spcPts val="2000"/>
        </a:spcBef>
        <a:spcAft>
          <a:spcPts val="0"/>
        </a:spcAft>
        <a:buClrTx/>
        <a:buSzPct val="123000"/>
        <a:buFontTx/>
        <a:buChar char="•"/>
        <a:tabLst/>
        <a:defRPr sz="2800" b="0" i="0" u="none" strike="noStrike" cap="none" spc="0" baseline="0">
          <a:solidFill>
            <a:srgbClr val="667085"/>
          </a:solidFill>
          <a:uFillTx/>
          <a:latin typeface="Inter" panose="02000503000000020004" pitchFamily="2" charset="0"/>
          <a:ea typeface="Inter" panose="02000503000000020004" pitchFamily="2" charset="0"/>
          <a:cs typeface="Poppins" pitchFamily="2" charset="77"/>
          <a:sym typeface="Helvetica Neue"/>
        </a:defRPr>
      </a:lvl1pPr>
      <a:lvl2pPr marL="1219200" marR="0" indent="-609600" algn="l" defTabSz="2438338" rtl="0" eaLnBrk="1" latinLnBrk="0" hangingPunct="1">
        <a:lnSpc>
          <a:spcPct val="150000"/>
        </a:lnSpc>
        <a:spcBef>
          <a:spcPts val="2000"/>
        </a:spcBef>
        <a:spcAft>
          <a:spcPts val="0"/>
        </a:spcAft>
        <a:buClrTx/>
        <a:buSzPct val="123000"/>
        <a:buFontTx/>
        <a:buChar char="•"/>
        <a:tabLst/>
        <a:defRPr sz="2800" b="0" i="0" u="none" strike="noStrike" cap="none" spc="0" baseline="0">
          <a:solidFill>
            <a:srgbClr val="667085"/>
          </a:solidFill>
          <a:uFillTx/>
          <a:latin typeface="Poppins" pitchFamily="2" charset="77"/>
          <a:ea typeface="+mn-ea"/>
          <a:cs typeface="Poppins" pitchFamily="2" charset="77"/>
          <a:sym typeface="Helvetica Neue"/>
        </a:defRPr>
      </a:lvl2pPr>
      <a:lvl3pPr marL="1219200" marR="0" indent="0" algn="l" defTabSz="2438338" rtl="0" eaLnBrk="1" latinLnBrk="0" hangingPunct="1">
        <a:lnSpc>
          <a:spcPct val="150000"/>
        </a:lnSpc>
        <a:spcBef>
          <a:spcPts val="2000"/>
        </a:spcBef>
        <a:spcAft>
          <a:spcPts val="0"/>
        </a:spcAft>
        <a:buClrTx/>
        <a:buSzPct val="123000"/>
        <a:buFontTx/>
        <a:buNone/>
        <a:tabLst/>
        <a:defRPr sz="2800" b="0" i="0" u="none" strike="noStrike" cap="none" spc="0" baseline="0">
          <a:solidFill>
            <a:srgbClr val="667085"/>
          </a:solidFill>
          <a:uFillTx/>
          <a:latin typeface="Poppins" pitchFamily="2" charset="77"/>
          <a:ea typeface="+mn-ea"/>
          <a:cs typeface="Poppins" pitchFamily="2" charset="77"/>
          <a:sym typeface="Helvetica Neue"/>
        </a:defRPr>
      </a:lvl3pPr>
      <a:lvl4pPr marL="2438400" marR="0" indent="-609600" algn="l" defTabSz="2438338" rtl="0" eaLnBrk="1" latinLnBrk="0" hangingPunct="1">
        <a:lnSpc>
          <a:spcPct val="150000"/>
        </a:lnSpc>
        <a:spcBef>
          <a:spcPts val="2000"/>
        </a:spcBef>
        <a:spcAft>
          <a:spcPts val="0"/>
        </a:spcAft>
        <a:buClrTx/>
        <a:buSzPct val="123000"/>
        <a:buFontTx/>
        <a:buChar char="•"/>
        <a:tabLst/>
        <a:defRPr sz="2800" b="0" i="0" u="none" strike="noStrike" cap="none" spc="0" baseline="0">
          <a:solidFill>
            <a:srgbClr val="667085"/>
          </a:solidFill>
          <a:uFillTx/>
          <a:latin typeface="Poppins" pitchFamily="2" charset="77"/>
          <a:ea typeface="+mn-ea"/>
          <a:cs typeface="Poppins" pitchFamily="2" charset="77"/>
          <a:sym typeface="Helvetica Neue"/>
        </a:defRPr>
      </a:lvl4pPr>
      <a:lvl5pPr marL="3048000" marR="0" indent="-609600" algn="l" defTabSz="2438338" rtl="0" eaLnBrk="1" latinLnBrk="0" hangingPunct="1">
        <a:lnSpc>
          <a:spcPct val="150000"/>
        </a:lnSpc>
        <a:spcBef>
          <a:spcPts val="2000"/>
        </a:spcBef>
        <a:spcAft>
          <a:spcPts val="0"/>
        </a:spcAft>
        <a:buClrTx/>
        <a:buSzPct val="123000"/>
        <a:buFontTx/>
        <a:buChar char="•"/>
        <a:tabLst/>
        <a:defRPr sz="2800" b="0" i="0" u="none" strike="noStrike" cap="none" spc="0" baseline="0">
          <a:solidFill>
            <a:srgbClr val="667085"/>
          </a:solidFill>
          <a:uFillTx/>
          <a:latin typeface="Poppins" pitchFamily="2" charset="77"/>
          <a:ea typeface="+mn-ea"/>
          <a:cs typeface="Poppins" pitchFamily="2" charset="77"/>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10354B-AEA5-C2FA-5785-4D02DFDAEBED}"/>
              </a:ext>
            </a:extLst>
          </p:cNvPr>
          <p:cNvSpPr>
            <a:spLocks noGrp="1"/>
          </p:cNvSpPr>
          <p:nvPr>
            <p:ph type="title"/>
          </p:nvPr>
        </p:nvSpPr>
        <p:spPr>
          <a:xfrm>
            <a:off x="914400" y="1371600"/>
            <a:ext cx="21031200" cy="1283634"/>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D96234D-DECD-6C9B-1EA9-BCEA71E00A63}"/>
              </a:ext>
            </a:extLst>
          </p:cNvPr>
          <p:cNvSpPr>
            <a:spLocks noGrp="1"/>
          </p:cNvSpPr>
          <p:nvPr>
            <p:ph type="body" idx="1"/>
          </p:nvPr>
        </p:nvSpPr>
        <p:spPr>
          <a:xfrm>
            <a:off x="914400" y="3657600"/>
            <a:ext cx="22481241" cy="87026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	</a:t>
            </a:r>
          </a:p>
        </p:txBody>
      </p:sp>
      <p:pic>
        <p:nvPicPr>
          <p:cNvPr id="8" name="BJ-DarkBlue.png">
            <a:extLst>
              <a:ext uri="{FF2B5EF4-FFF2-40B4-BE49-F238E27FC236}">
                <a16:creationId xmlns:a16="http://schemas.microsoft.com/office/drawing/2014/main" id="{EBC81B96-2AD3-4C7B-42C3-4E85A376957F}"/>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21116561" y="12956158"/>
            <a:ext cx="2328369" cy="320040"/>
          </a:xfrm>
          <a:prstGeom prst="rect">
            <a:avLst/>
          </a:prstGeom>
          <a:ln w="12700">
            <a:miter lim="400000"/>
          </a:ln>
        </p:spPr>
      </p:pic>
      <p:sp>
        <p:nvSpPr>
          <p:cNvPr id="4" name="TextBox 3">
            <a:extLst>
              <a:ext uri="{FF2B5EF4-FFF2-40B4-BE49-F238E27FC236}">
                <a16:creationId xmlns:a16="http://schemas.microsoft.com/office/drawing/2014/main" id="{8623C628-D01E-0CD6-9E10-2D31F5508938}"/>
              </a:ext>
            </a:extLst>
          </p:cNvPr>
          <p:cNvSpPr txBox="1"/>
          <p:nvPr userDrawn="1"/>
        </p:nvSpPr>
        <p:spPr>
          <a:xfrm>
            <a:off x="914400" y="12977679"/>
            <a:ext cx="7386918"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0">
            <a:spAutoFit/>
          </a:bodyPr>
          <a:lstStyle/>
          <a:p>
            <a:pPr algn="l"/>
            <a:r>
              <a:rPr lang="en-US" sz="1200">
                <a:solidFill>
                  <a:srgbClr val="D3D3D3"/>
                </a:solidFill>
              </a:rPr>
              <a:t> © 2025 </a:t>
            </a:r>
            <a:r>
              <a:rPr lang="en-US" sz="1200" err="1">
                <a:solidFill>
                  <a:srgbClr val="D3D3D3"/>
                </a:solidFill>
              </a:rPr>
              <a:t>Traders@SMU</a:t>
            </a:r>
            <a:r>
              <a:rPr lang="en-US" sz="1200">
                <a:solidFill>
                  <a:srgbClr val="D3D3D3"/>
                </a:solidFill>
              </a:rPr>
              <a:t> | CONFIDENTIAL</a:t>
            </a:r>
          </a:p>
        </p:txBody>
      </p:sp>
      <p:cxnSp>
        <p:nvCxnSpPr>
          <p:cNvPr id="5" name="Straight Connector 4">
            <a:extLst>
              <a:ext uri="{FF2B5EF4-FFF2-40B4-BE49-F238E27FC236}">
                <a16:creationId xmlns:a16="http://schemas.microsoft.com/office/drawing/2014/main" id="{E72A9C8E-7D47-8715-6846-12FC5D5EC226}"/>
              </a:ext>
            </a:extLst>
          </p:cNvPr>
          <p:cNvCxnSpPr/>
          <p:nvPr userDrawn="1"/>
        </p:nvCxnSpPr>
        <p:spPr>
          <a:xfrm>
            <a:off x="914400" y="12658216"/>
            <a:ext cx="22530530" cy="0"/>
          </a:xfrm>
          <a:prstGeom prst="line">
            <a:avLst/>
          </a:prstGeom>
          <a:noFill/>
          <a:ln w="12700" cap="flat">
            <a:solidFill>
              <a:schemeClr val="bg1">
                <a:lumMod val="85000"/>
              </a:schemeClr>
            </a:solidFill>
            <a:prstDash val="solid"/>
            <a:miter lim="400000"/>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3810439736"/>
      </p:ext>
    </p:extLst>
  </p:cSld>
  <p:clrMap bg1="lt1" tx1="dk1" bg2="lt2" tx2="dk2" accent1="accent1" accent2="accent2" accent3="accent3" accent4="accent4" accent5="accent5" accent6="accent6" hlink="hlink" folHlink="folHlink"/>
  <p:sldLayoutIdLst>
    <p:sldLayoutId id="2147483685" r:id="rId1"/>
    <p:sldLayoutId id="2147483687" r:id="rId2"/>
  </p:sldLayoutIdLst>
  <p:hf hdr="0" ftr="0" dt="0"/>
  <p:txStyles>
    <p:titleStyle>
      <a:lvl1pPr algn="l" defTabSz="914400" rtl="0" eaLnBrk="1" latinLnBrk="0" hangingPunct="1">
        <a:lnSpc>
          <a:spcPct val="90000"/>
        </a:lnSpc>
        <a:spcBef>
          <a:spcPct val="0"/>
        </a:spcBef>
        <a:buNone/>
        <a:defRPr sz="7200" b="1" i="0" kern="1200">
          <a:solidFill>
            <a:srgbClr val="2B3145"/>
          </a:solidFill>
          <a:latin typeface="Inter" panose="02000503000000020004" pitchFamily="2" charset="0"/>
          <a:ea typeface="Inter" panose="02000503000000020004" pitchFamily="2" charset="0"/>
          <a:cs typeface="Poppins SemiBold" pitchFamily="2" charset="77"/>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10354B-AEA5-C2FA-5785-4D02DFDAEBED}"/>
              </a:ext>
            </a:extLst>
          </p:cNvPr>
          <p:cNvSpPr>
            <a:spLocks noGrp="1"/>
          </p:cNvSpPr>
          <p:nvPr>
            <p:ph type="title"/>
          </p:nvPr>
        </p:nvSpPr>
        <p:spPr>
          <a:xfrm>
            <a:off x="914400" y="1371600"/>
            <a:ext cx="21031200" cy="1283634"/>
          </a:xfrm>
          <a:prstGeom prst="rect">
            <a:avLst/>
          </a:prstGeom>
        </p:spPr>
        <p:txBody>
          <a:bodyPr vert="horz" lIns="91440" tIns="45720" rIns="91440" bIns="45720" rtlCol="0" anchor="t">
            <a:normAutofit/>
          </a:bodyPr>
          <a:lstStyle/>
          <a:p>
            <a:r>
              <a:rPr lang="en-US"/>
              <a:t>Title</a:t>
            </a:r>
          </a:p>
        </p:txBody>
      </p:sp>
      <p:sp>
        <p:nvSpPr>
          <p:cNvPr id="3" name="Text Placeholder 2">
            <a:extLst>
              <a:ext uri="{FF2B5EF4-FFF2-40B4-BE49-F238E27FC236}">
                <a16:creationId xmlns:a16="http://schemas.microsoft.com/office/drawing/2014/main" id="{8D96234D-DECD-6C9B-1EA9-BCEA71E00A63}"/>
              </a:ext>
            </a:extLst>
          </p:cNvPr>
          <p:cNvSpPr>
            <a:spLocks noGrp="1"/>
          </p:cNvSpPr>
          <p:nvPr>
            <p:ph type="body" idx="1"/>
          </p:nvPr>
        </p:nvSpPr>
        <p:spPr>
          <a:xfrm>
            <a:off x="914400" y="3657600"/>
            <a:ext cx="22481241" cy="87026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BJ-DarkBlue.png">
            <a:extLst>
              <a:ext uri="{FF2B5EF4-FFF2-40B4-BE49-F238E27FC236}">
                <a16:creationId xmlns:a16="http://schemas.microsoft.com/office/drawing/2014/main" id="{AB37DC0E-6461-9329-6B50-14369B1D6666}"/>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21116561" y="12956158"/>
            <a:ext cx="2328369" cy="320040"/>
          </a:xfrm>
          <a:prstGeom prst="rect">
            <a:avLst/>
          </a:prstGeom>
          <a:ln w="12700">
            <a:miter lim="400000"/>
          </a:ln>
        </p:spPr>
      </p:pic>
      <p:sp>
        <p:nvSpPr>
          <p:cNvPr id="9" name="TextBox 8">
            <a:extLst>
              <a:ext uri="{FF2B5EF4-FFF2-40B4-BE49-F238E27FC236}">
                <a16:creationId xmlns:a16="http://schemas.microsoft.com/office/drawing/2014/main" id="{9F195239-E345-BB77-B973-7BB6BDB34EAA}"/>
              </a:ext>
            </a:extLst>
          </p:cNvPr>
          <p:cNvSpPr txBox="1"/>
          <p:nvPr userDrawn="1"/>
        </p:nvSpPr>
        <p:spPr>
          <a:xfrm>
            <a:off x="914400" y="12977679"/>
            <a:ext cx="7386918"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0">
            <a:spAutoFit/>
          </a:bodyPr>
          <a:lstStyle/>
          <a:p>
            <a:pPr algn="l"/>
            <a:r>
              <a:rPr lang="en-US" sz="1200">
                <a:solidFill>
                  <a:srgbClr val="D3D3D3"/>
                </a:solidFill>
              </a:rPr>
              <a:t> © 2025 </a:t>
            </a:r>
            <a:r>
              <a:rPr lang="en-US" sz="1200" err="1">
                <a:solidFill>
                  <a:srgbClr val="D3D3D3"/>
                </a:solidFill>
              </a:rPr>
              <a:t>Traders@SMU</a:t>
            </a:r>
            <a:r>
              <a:rPr lang="en-US" sz="1200">
                <a:solidFill>
                  <a:srgbClr val="D3D3D3"/>
                </a:solidFill>
              </a:rPr>
              <a:t> | CONFIDENTIAL</a:t>
            </a:r>
          </a:p>
        </p:txBody>
      </p:sp>
    </p:spTree>
    <p:extLst>
      <p:ext uri="{BB962C8B-B14F-4D97-AF65-F5344CB8AC3E}">
        <p14:creationId xmlns:p14="http://schemas.microsoft.com/office/powerpoint/2010/main" val="1484328305"/>
      </p:ext>
    </p:extLst>
  </p:cSld>
  <p:clrMap bg1="lt1" tx1="dk1" bg2="lt2" tx2="dk2" accent1="accent1" accent2="accent2" accent3="accent3" accent4="accent4" accent5="accent5" accent6="accent6" hlink="hlink" folHlink="folHlink"/>
  <p:sldLayoutIdLst>
    <p:sldLayoutId id="2147483700" r:id="rId1"/>
    <p:sldLayoutId id="2147483696" r:id="rId2"/>
  </p:sldLayoutIdLst>
  <p:hf hdr="0" ftr="0" dt="0"/>
  <p:txStyles>
    <p:titleStyle>
      <a:lvl1pPr algn="l" defTabSz="914400" rtl="0" eaLnBrk="1" latinLnBrk="0" hangingPunct="1">
        <a:lnSpc>
          <a:spcPct val="100000"/>
        </a:lnSpc>
        <a:spcBef>
          <a:spcPct val="0"/>
        </a:spcBef>
        <a:buNone/>
        <a:defRPr sz="7200" b="1" i="0" kern="1200">
          <a:solidFill>
            <a:srgbClr val="2B3145"/>
          </a:solidFill>
          <a:latin typeface="Inter" panose="02000503000000020004" pitchFamily="2" charset="0"/>
          <a:ea typeface="Inter" panose="02000503000000020004" pitchFamily="2" charset="0"/>
          <a:cs typeface="Poppins SemiBold" pitchFamily="2" charset="77"/>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10354B-AEA5-C2FA-5785-4D02DFDAEBED}"/>
              </a:ext>
            </a:extLst>
          </p:cNvPr>
          <p:cNvSpPr>
            <a:spLocks noGrp="1"/>
          </p:cNvSpPr>
          <p:nvPr>
            <p:ph type="title"/>
          </p:nvPr>
        </p:nvSpPr>
        <p:spPr>
          <a:xfrm>
            <a:off x="914400" y="1371600"/>
            <a:ext cx="21031200" cy="1283634"/>
          </a:xfrm>
          <a:prstGeom prst="rect">
            <a:avLst/>
          </a:prstGeom>
        </p:spPr>
        <p:txBody>
          <a:bodyPr vert="horz" lIns="91440" tIns="45720" rIns="91440" bIns="45720" rtlCol="0" anchor="t">
            <a:normAutofit/>
          </a:bodyPr>
          <a:lstStyle/>
          <a:p>
            <a:r>
              <a:rPr lang="en-US"/>
              <a:t>Title</a:t>
            </a:r>
          </a:p>
        </p:txBody>
      </p:sp>
      <p:sp>
        <p:nvSpPr>
          <p:cNvPr id="3" name="Text Placeholder 2">
            <a:extLst>
              <a:ext uri="{FF2B5EF4-FFF2-40B4-BE49-F238E27FC236}">
                <a16:creationId xmlns:a16="http://schemas.microsoft.com/office/drawing/2014/main" id="{8D96234D-DECD-6C9B-1EA9-BCEA71E00A63}"/>
              </a:ext>
            </a:extLst>
          </p:cNvPr>
          <p:cNvSpPr>
            <a:spLocks noGrp="1"/>
          </p:cNvSpPr>
          <p:nvPr>
            <p:ph type="body" idx="1"/>
          </p:nvPr>
        </p:nvSpPr>
        <p:spPr>
          <a:xfrm>
            <a:off x="914400" y="3657600"/>
            <a:ext cx="22481241" cy="87026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69153514"/>
      </p:ext>
    </p:extLst>
  </p:cSld>
  <p:clrMap bg1="lt1" tx1="dk1" bg2="lt2" tx2="dk2" accent1="accent1" accent2="accent2" accent3="accent3" accent4="accent4" accent5="accent5" accent6="accent6" hlink="hlink" folHlink="folHlink"/>
  <p:sldLayoutIdLst>
    <p:sldLayoutId id="2147483706" r:id="rId1"/>
  </p:sldLayoutIdLst>
  <p:hf hdr="0" ftr="0" dt="0"/>
  <p:txStyles>
    <p:titleStyle>
      <a:lvl1pPr algn="l" defTabSz="914400" rtl="0" eaLnBrk="1" latinLnBrk="0" hangingPunct="1">
        <a:lnSpc>
          <a:spcPct val="100000"/>
        </a:lnSpc>
        <a:spcBef>
          <a:spcPct val="0"/>
        </a:spcBef>
        <a:buNone/>
        <a:defRPr sz="7200" b="1" i="0" kern="1200">
          <a:solidFill>
            <a:srgbClr val="2B3145"/>
          </a:solidFill>
          <a:latin typeface="Inter" panose="02000503000000020004" pitchFamily="2" charset="0"/>
          <a:ea typeface="Inter" panose="02000503000000020004" pitchFamily="2" charset="0"/>
          <a:cs typeface="Poppins SemiBold" pitchFamily="2" charset="77"/>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hyperlink" Target="https://blog.opofinance.com/en/50-200-day-moving-average-crossover-strategy/" TargetMode="External"/><Relationship Id="rId2" Type="http://schemas.openxmlformats.org/officeDocument/2006/relationships/hyperlink" Target="https://www.alpharithms.com/moving-averages-083315/" TargetMode="External"/><Relationship Id="rId1" Type="http://schemas.openxmlformats.org/officeDocument/2006/relationships/slideLayout" Target="../slideLayouts/slideLayout2.xml"/><Relationship Id="rId4" Type="http://schemas.openxmlformats.org/officeDocument/2006/relationships/hyperlink" Target="https://www.simtrade.fr/blog_simtrade/moving-averages/"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0065272-B427-C3B2-BCA4-56F952DB8AED}"/>
              </a:ext>
            </a:extLst>
          </p:cNvPr>
          <p:cNvSpPr>
            <a:spLocks noGrp="1"/>
          </p:cNvSpPr>
          <p:nvPr>
            <p:ph type="body" sz="quarter" idx="21"/>
          </p:nvPr>
        </p:nvSpPr>
        <p:spPr/>
        <p:txBody>
          <a:bodyPr>
            <a:normAutofit lnSpcReduction="10000"/>
          </a:bodyPr>
          <a:lstStyle/>
          <a:p>
            <a:r>
              <a:rPr lang="en-US" err="1"/>
              <a:t>Traders@SMU</a:t>
            </a:r>
            <a:r>
              <a:rPr lang="en-US"/>
              <a:t> – April 30, 2025</a:t>
            </a:r>
          </a:p>
        </p:txBody>
      </p:sp>
      <p:sp>
        <p:nvSpPr>
          <p:cNvPr id="3" name="Title 2">
            <a:extLst>
              <a:ext uri="{FF2B5EF4-FFF2-40B4-BE49-F238E27FC236}">
                <a16:creationId xmlns:a16="http://schemas.microsoft.com/office/drawing/2014/main" id="{B4FDFE16-9A3E-3152-D929-C68158E4998E}"/>
              </a:ext>
            </a:extLst>
          </p:cNvPr>
          <p:cNvSpPr>
            <a:spLocks noGrp="1"/>
          </p:cNvSpPr>
          <p:nvPr>
            <p:ph type="title"/>
          </p:nvPr>
        </p:nvSpPr>
        <p:spPr/>
        <p:txBody>
          <a:bodyPr/>
          <a:lstStyle/>
          <a:p>
            <a:r>
              <a:rPr lang="en-US"/>
              <a:t>Visualizing SMA Crossovers</a:t>
            </a:r>
          </a:p>
        </p:txBody>
      </p:sp>
      <p:sp>
        <p:nvSpPr>
          <p:cNvPr id="4" name="Text Placeholder 3">
            <a:extLst>
              <a:ext uri="{FF2B5EF4-FFF2-40B4-BE49-F238E27FC236}">
                <a16:creationId xmlns:a16="http://schemas.microsoft.com/office/drawing/2014/main" id="{BE8DB9D5-247C-DD66-A9E9-DED0842B7033}"/>
              </a:ext>
            </a:extLst>
          </p:cNvPr>
          <p:cNvSpPr>
            <a:spLocks noGrp="1"/>
          </p:cNvSpPr>
          <p:nvPr>
            <p:ph type="body" sz="quarter" idx="1"/>
          </p:nvPr>
        </p:nvSpPr>
        <p:spPr/>
        <p:txBody>
          <a:bodyPr/>
          <a:lstStyle/>
          <a:p>
            <a:r>
              <a:rPr lang="en-US"/>
              <a:t>Research and Analysis, Model, and Discussion</a:t>
            </a:r>
          </a:p>
        </p:txBody>
      </p:sp>
    </p:spTree>
    <p:extLst>
      <p:ext uri="{BB962C8B-B14F-4D97-AF65-F5344CB8AC3E}">
        <p14:creationId xmlns:p14="http://schemas.microsoft.com/office/powerpoint/2010/main" val="1485909516"/>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B0120-5D7C-AED5-C808-D154FBBB509D}"/>
              </a:ext>
            </a:extLst>
          </p:cNvPr>
          <p:cNvSpPr>
            <a:spLocks noGrp="1"/>
          </p:cNvSpPr>
          <p:nvPr>
            <p:ph type="title"/>
          </p:nvPr>
        </p:nvSpPr>
        <p:spPr/>
        <p:txBody>
          <a:bodyPr/>
          <a:lstStyle/>
          <a:p>
            <a:r>
              <a:rPr lang="en-US"/>
              <a:t>Agenda</a:t>
            </a:r>
          </a:p>
        </p:txBody>
      </p:sp>
      <p:sp>
        <p:nvSpPr>
          <p:cNvPr id="4" name="Text Placeholder 3">
            <a:extLst>
              <a:ext uri="{FF2B5EF4-FFF2-40B4-BE49-F238E27FC236}">
                <a16:creationId xmlns:a16="http://schemas.microsoft.com/office/drawing/2014/main" id="{DC21E3BA-9ED9-DE5F-1A1D-F51EE48DC6DA}"/>
              </a:ext>
            </a:extLst>
          </p:cNvPr>
          <p:cNvSpPr>
            <a:spLocks noGrp="1"/>
          </p:cNvSpPr>
          <p:nvPr>
            <p:ph type="body" sz="quarter" idx="13"/>
          </p:nvPr>
        </p:nvSpPr>
        <p:spPr/>
        <p:txBody>
          <a:bodyPr/>
          <a:lstStyle/>
          <a:p>
            <a:r>
              <a:rPr lang="en-US"/>
              <a:t>Visualizing SMA Crossovers</a:t>
            </a:r>
            <a:endParaRPr lang="en-US">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67376405-A736-F70F-6BFC-69505CA7DFE0}"/>
              </a:ext>
            </a:extLst>
          </p:cNvPr>
          <p:cNvSpPr>
            <a:spLocks noGrp="1"/>
          </p:cNvSpPr>
          <p:nvPr>
            <p:ph type="body" sz="quarter" idx="15"/>
          </p:nvPr>
        </p:nvSpPr>
        <p:spPr/>
        <p:txBody>
          <a:bodyPr>
            <a:normAutofit/>
          </a:bodyPr>
          <a:lstStyle/>
          <a:p>
            <a:pPr>
              <a:buFont typeface="Wingdings" pitchFamily="2" charset="2"/>
              <a:buChar char="§"/>
            </a:pPr>
            <a:r>
              <a:rPr lang="en-US"/>
              <a:t>Moving Averages Overview </a:t>
            </a:r>
          </a:p>
          <a:p>
            <a:pPr>
              <a:buFont typeface="Wingdings" pitchFamily="2" charset="2"/>
              <a:buChar char="§"/>
            </a:pPr>
            <a:r>
              <a:rPr lang="en-US"/>
              <a:t>SMA overview</a:t>
            </a:r>
          </a:p>
          <a:p>
            <a:pPr lvl="1">
              <a:buFont typeface="Wingdings" pitchFamily="2" charset="2"/>
              <a:buChar char="§"/>
            </a:pPr>
            <a:r>
              <a:rPr lang="en-US"/>
              <a:t>Trend Direction and Price Action</a:t>
            </a:r>
          </a:p>
          <a:p>
            <a:pPr lvl="1">
              <a:buFont typeface="Wingdings" pitchFamily="2" charset="2"/>
              <a:buChar char="§"/>
            </a:pPr>
            <a:r>
              <a:rPr lang="en-US"/>
              <a:t>SMA Crossover Model (n= 50, 200)</a:t>
            </a:r>
          </a:p>
          <a:p>
            <a:pPr lvl="1">
              <a:buFont typeface="Wingdings" pitchFamily="2" charset="2"/>
              <a:buChar char="§"/>
            </a:pPr>
            <a:r>
              <a:rPr lang="en-US"/>
              <a:t>SMA Crossover Results NVDA</a:t>
            </a:r>
          </a:p>
          <a:p>
            <a:pPr>
              <a:buFont typeface="Wingdings" pitchFamily="2" charset="2"/>
              <a:buChar char="§"/>
            </a:pPr>
            <a:r>
              <a:rPr lang="en-US"/>
              <a:t>EMA overview</a:t>
            </a:r>
          </a:p>
          <a:p>
            <a:pPr lvl="1">
              <a:buFont typeface="Wingdings" pitchFamily="2" charset="2"/>
              <a:buChar char="§"/>
            </a:pPr>
            <a:r>
              <a:rPr lang="en-US"/>
              <a:t>EMA Crossover Model</a:t>
            </a:r>
          </a:p>
          <a:p>
            <a:pPr lvl="1">
              <a:buFont typeface="Wingdings" pitchFamily="2" charset="2"/>
              <a:buChar char="§"/>
            </a:pPr>
            <a:r>
              <a:rPr lang="en-US"/>
              <a:t>EMA Crossover Results TSLA</a:t>
            </a:r>
          </a:p>
          <a:p>
            <a:pPr>
              <a:buFont typeface="Wingdings" pitchFamily="2" charset="2"/>
              <a:buChar char="§"/>
            </a:pPr>
            <a:r>
              <a:rPr lang="en-US"/>
              <a:t>When to use: SMA vs. EMA</a:t>
            </a:r>
          </a:p>
          <a:p>
            <a:pPr>
              <a:buFont typeface="Wingdings" pitchFamily="2" charset="2"/>
              <a:buChar char="§"/>
            </a:pPr>
            <a:r>
              <a:rPr lang="en-US"/>
              <a:t>Limitations of SMA and EMA</a:t>
            </a:r>
          </a:p>
          <a:p>
            <a:pPr>
              <a:buFont typeface="Wingdings" pitchFamily="2" charset="2"/>
              <a:buChar char="§"/>
            </a:pPr>
            <a:r>
              <a:rPr lang="en-US"/>
              <a:t>Conclusions</a:t>
            </a:r>
          </a:p>
          <a:p>
            <a:pPr>
              <a:buFont typeface="Wingdings" pitchFamily="2" charset="2"/>
              <a:buChar char="§"/>
            </a:pPr>
            <a:r>
              <a:rPr lang="en-US"/>
              <a:t>References</a:t>
            </a:r>
          </a:p>
          <a:p>
            <a:pPr marL="0" indent="0">
              <a:buNone/>
            </a:pPr>
            <a:endParaRPr lang="en-US"/>
          </a:p>
        </p:txBody>
      </p:sp>
    </p:spTree>
    <p:extLst>
      <p:ext uri="{BB962C8B-B14F-4D97-AF65-F5344CB8AC3E}">
        <p14:creationId xmlns:p14="http://schemas.microsoft.com/office/powerpoint/2010/main" val="15058230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800D273-AD92-B3D7-D5F7-06A56F653246}"/>
              </a:ext>
            </a:extLst>
          </p:cNvPr>
          <p:cNvSpPr>
            <a:spLocks noGrp="1"/>
          </p:cNvSpPr>
          <p:nvPr>
            <p:ph type="body" sz="quarter" idx="13"/>
          </p:nvPr>
        </p:nvSpPr>
        <p:spPr>
          <a:xfrm>
            <a:off x="914399" y="685800"/>
            <a:ext cx="7726671" cy="457200"/>
          </a:xfrm>
        </p:spPr>
        <p:txBody>
          <a:bodyPr/>
          <a:lstStyle/>
          <a:p>
            <a:r>
              <a:rPr lang="en-US"/>
              <a:t>Visualizing SMA Crossovers</a:t>
            </a:r>
            <a:endParaRPr lang="en-US">
              <a:solidFill>
                <a:schemeClr val="tx2">
                  <a:lumMod val="75000"/>
                  <a:lumOff val="25000"/>
                </a:schemeClr>
              </a:solidFill>
            </a:endParaRPr>
          </a:p>
        </p:txBody>
      </p:sp>
      <p:sp>
        <p:nvSpPr>
          <p:cNvPr id="5" name="Slide Number Placeholder 4">
            <a:extLst>
              <a:ext uri="{FF2B5EF4-FFF2-40B4-BE49-F238E27FC236}">
                <a16:creationId xmlns:a16="http://schemas.microsoft.com/office/drawing/2014/main" id="{7B1F78D1-E50A-430F-FC77-9FAA7ECFBC13}"/>
              </a:ext>
            </a:extLst>
          </p:cNvPr>
          <p:cNvSpPr>
            <a:spLocks noGrp="1"/>
          </p:cNvSpPr>
          <p:nvPr>
            <p:ph type="sldNum" sz="quarter" idx="14"/>
          </p:nvPr>
        </p:nvSpPr>
        <p:spPr/>
        <p:txBody>
          <a:bodyPr/>
          <a:lstStyle/>
          <a:p>
            <a:fld id="{86CB4B4D-7CA3-9044-876B-883B54F8677D}" type="slidenum">
              <a:rPr lang="en-US" smtClean="0"/>
              <a:pPr/>
              <a:t>3</a:t>
            </a:fld>
            <a:endParaRPr lang="en-US"/>
          </a:p>
        </p:txBody>
      </p:sp>
      <p:sp>
        <p:nvSpPr>
          <p:cNvPr id="6" name="Title 5">
            <a:extLst>
              <a:ext uri="{FF2B5EF4-FFF2-40B4-BE49-F238E27FC236}">
                <a16:creationId xmlns:a16="http://schemas.microsoft.com/office/drawing/2014/main" id="{891181F3-138B-7E1A-94F7-D3FF79E6B1B4}"/>
              </a:ext>
            </a:extLst>
          </p:cNvPr>
          <p:cNvSpPr>
            <a:spLocks noGrp="1"/>
          </p:cNvSpPr>
          <p:nvPr>
            <p:ph type="title"/>
          </p:nvPr>
        </p:nvSpPr>
        <p:spPr/>
        <p:txBody>
          <a:bodyPr>
            <a:normAutofit/>
          </a:bodyPr>
          <a:lstStyle/>
          <a:p>
            <a:r>
              <a:rPr lang="en-US">
                <a:latin typeface="Inter"/>
                <a:cs typeface="Poppins"/>
              </a:rPr>
              <a:t>What is a Moving Average?</a:t>
            </a:r>
            <a:endParaRPr lang="en-US"/>
          </a:p>
        </p:txBody>
      </p:sp>
      <p:pic>
        <p:nvPicPr>
          <p:cNvPr id="3" name="Picture 2">
            <a:extLst>
              <a:ext uri="{FF2B5EF4-FFF2-40B4-BE49-F238E27FC236}">
                <a16:creationId xmlns:a16="http://schemas.microsoft.com/office/drawing/2014/main" id="{4DF9D906-0A1A-73FC-346D-B19205D977A6}"/>
              </a:ext>
            </a:extLst>
          </p:cNvPr>
          <p:cNvPicPr>
            <a:picLocks noChangeAspect="1"/>
          </p:cNvPicPr>
          <p:nvPr/>
        </p:nvPicPr>
        <p:blipFill>
          <a:blip r:embed="rId2"/>
          <a:srcRect t="5303" b="6186"/>
          <a:stretch/>
        </p:blipFill>
        <p:spPr>
          <a:xfrm>
            <a:off x="2870200" y="7257150"/>
            <a:ext cx="18643600" cy="5315850"/>
          </a:xfrm>
          <a:prstGeom prst="rect">
            <a:avLst/>
          </a:prstGeom>
        </p:spPr>
      </p:pic>
      <p:sp>
        <p:nvSpPr>
          <p:cNvPr id="7" name="Content Placeholder 8">
            <a:extLst>
              <a:ext uri="{FF2B5EF4-FFF2-40B4-BE49-F238E27FC236}">
                <a16:creationId xmlns:a16="http://schemas.microsoft.com/office/drawing/2014/main" id="{1BD7B030-702A-14CE-A6D7-2B3875EC0A56}"/>
              </a:ext>
            </a:extLst>
          </p:cNvPr>
          <p:cNvSpPr>
            <a:spLocks noGrp="1"/>
          </p:cNvSpPr>
          <p:nvPr>
            <p:ph sz="half" idx="1"/>
          </p:nvPr>
        </p:nvSpPr>
        <p:spPr>
          <a:xfrm>
            <a:off x="914399" y="3935906"/>
            <a:ext cx="22488526" cy="3321244"/>
          </a:xfrm>
        </p:spPr>
        <p:txBody>
          <a:bodyPr>
            <a:normAutofit/>
          </a:bodyPr>
          <a:lstStyle/>
          <a:p>
            <a:pPr marL="0" indent="0" algn="ctr">
              <a:buNone/>
            </a:pPr>
            <a:r>
              <a:rPr lang="en-US"/>
              <a:t>A moving average is a statistical method used to analyze data points by creating a series of averages from different subsets of a complete data set. It smooths out short-term fluctuations and highlights longer-term trends or cycles.</a:t>
            </a:r>
          </a:p>
        </p:txBody>
      </p:sp>
      <p:sp>
        <p:nvSpPr>
          <p:cNvPr id="8" name="Content Placeholder 6">
            <a:extLst>
              <a:ext uri="{FF2B5EF4-FFF2-40B4-BE49-F238E27FC236}">
                <a16:creationId xmlns:a16="http://schemas.microsoft.com/office/drawing/2014/main" id="{8DB19303-FA56-67EE-4DE9-32F3A74DD7EB}"/>
              </a:ext>
            </a:extLst>
          </p:cNvPr>
          <p:cNvSpPr txBox="1">
            <a:spLocks/>
          </p:cNvSpPr>
          <p:nvPr/>
        </p:nvSpPr>
        <p:spPr>
          <a:xfrm>
            <a:off x="914399" y="3209366"/>
            <a:ext cx="22488526" cy="726540"/>
          </a:xfrm>
          <a:prstGeom prst="rect">
            <a:avLst/>
          </a:prstGeom>
          <a:solidFill>
            <a:srgbClr val="215F9A"/>
          </a:solidFill>
        </p:spPr>
        <p:txBody>
          <a:bodyPr vert="horz" lIns="91440" tIns="45720" rIns="91440" bIns="45720" rtlCol="0">
            <a:no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solidFill>
                  <a:schemeClr val="bg1"/>
                </a:solidFill>
              </a:rPr>
              <a:t>Definition</a:t>
            </a:r>
          </a:p>
        </p:txBody>
      </p:sp>
      <p:sp>
        <p:nvSpPr>
          <p:cNvPr id="9" name="Content Placeholder 6">
            <a:extLst>
              <a:ext uri="{FF2B5EF4-FFF2-40B4-BE49-F238E27FC236}">
                <a16:creationId xmlns:a16="http://schemas.microsoft.com/office/drawing/2014/main" id="{AB40A253-06F3-B96F-D685-D02DE21EA253}"/>
              </a:ext>
            </a:extLst>
          </p:cNvPr>
          <p:cNvSpPr txBox="1">
            <a:spLocks/>
          </p:cNvSpPr>
          <p:nvPr/>
        </p:nvSpPr>
        <p:spPr>
          <a:xfrm>
            <a:off x="941387" y="6131460"/>
            <a:ext cx="22488526" cy="726540"/>
          </a:xfrm>
          <a:prstGeom prst="rect">
            <a:avLst/>
          </a:prstGeom>
          <a:solidFill>
            <a:srgbClr val="215F9A"/>
          </a:solidFill>
        </p:spPr>
        <p:txBody>
          <a:bodyPr vert="horz" lIns="91440" tIns="45720" rIns="91440" bIns="45720" rtlCol="0">
            <a:no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solidFill>
                  <a:schemeClr val="bg1"/>
                </a:solidFill>
              </a:rPr>
              <a:t>Visual Example of Moving Average</a:t>
            </a:r>
          </a:p>
        </p:txBody>
      </p:sp>
    </p:spTree>
    <p:extLst>
      <p:ext uri="{BB962C8B-B14F-4D97-AF65-F5344CB8AC3E}">
        <p14:creationId xmlns:p14="http://schemas.microsoft.com/office/powerpoint/2010/main" val="24883599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5CF7B-BA24-8770-99AD-B0B5FF6AD97C}"/>
            </a:ext>
          </a:extLst>
        </p:cNvPr>
        <p:cNvGrpSpPr/>
        <p:nvPr/>
      </p:nvGrpSpPr>
      <p:grpSpPr>
        <a:xfrm>
          <a:off x="0" y="0"/>
          <a:ext cx="0" cy="0"/>
          <a:chOff x="0" y="0"/>
          <a:chExt cx="0" cy="0"/>
        </a:xfrm>
      </p:grpSpPr>
      <p:sp>
        <p:nvSpPr>
          <p:cNvPr id="7" name="Content Placeholder 6">
            <a:extLst>
              <a:ext uri="{FF2B5EF4-FFF2-40B4-BE49-F238E27FC236}">
                <a16:creationId xmlns:a16="http://schemas.microsoft.com/office/drawing/2014/main" id="{4999EBC6-13AF-4BDB-3CB6-53AE63C9ECF6}"/>
              </a:ext>
            </a:extLst>
          </p:cNvPr>
          <p:cNvSpPr>
            <a:spLocks noGrp="1"/>
          </p:cNvSpPr>
          <p:nvPr>
            <p:ph sz="half" idx="1"/>
          </p:nvPr>
        </p:nvSpPr>
        <p:spPr>
          <a:xfrm>
            <a:off x="914400" y="3209366"/>
            <a:ext cx="10327342" cy="520423"/>
          </a:xfrm>
          <a:solidFill>
            <a:srgbClr val="215F9A"/>
          </a:solidFill>
        </p:spPr>
        <p:txBody>
          <a:bodyPr>
            <a:normAutofit fontScale="77500" lnSpcReduction="20000"/>
          </a:bodyPr>
          <a:lstStyle/>
          <a:p>
            <a:pPr marL="0" indent="0" algn="ctr">
              <a:buNone/>
            </a:pPr>
            <a:r>
              <a:rPr lang="en-US">
                <a:solidFill>
                  <a:schemeClr val="bg1"/>
                </a:solidFill>
              </a:rPr>
              <a:t>Equation</a:t>
            </a:r>
          </a:p>
        </p:txBody>
      </p:sp>
      <p:sp>
        <p:nvSpPr>
          <p:cNvPr id="5" name="Slide Number Placeholder 4">
            <a:extLst>
              <a:ext uri="{FF2B5EF4-FFF2-40B4-BE49-F238E27FC236}">
                <a16:creationId xmlns:a16="http://schemas.microsoft.com/office/drawing/2014/main" id="{7C0CC3F4-0E53-EB53-8531-EEB6264EA6CC}"/>
              </a:ext>
            </a:extLst>
          </p:cNvPr>
          <p:cNvSpPr>
            <a:spLocks noGrp="1"/>
          </p:cNvSpPr>
          <p:nvPr>
            <p:ph type="sldNum" sz="quarter" idx="14"/>
          </p:nvPr>
        </p:nvSpPr>
        <p:spPr/>
        <p:txBody>
          <a:bodyPr/>
          <a:lstStyle/>
          <a:p>
            <a:fld id="{86CB4B4D-7CA3-9044-876B-883B54F8677D}" type="slidenum">
              <a:rPr lang="en-US" smtClean="0"/>
              <a:pPr/>
              <a:t>4</a:t>
            </a:fld>
            <a:endParaRPr lang="en-US"/>
          </a:p>
        </p:txBody>
      </p:sp>
      <p:sp>
        <p:nvSpPr>
          <p:cNvPr id="10" name="Title 1">
            <a:extLst>
              <a:ext uri="{FF2B5EF4-FFF2-40B4-BE49-F238E27FC236}">
                <a16:creationId xmlns:a16="http://schemas.microsoft.com/office/drawing/2014/main" id="{0B5E2E57-23DF-1B85-C20D-AA215253565E}"/>
              </a:ext>
            </a:extLst>
          </p:cNvPr>
          <p:cNvSpPr>
            <a:spLocks noGrp="1"/>
          </p:cNvSpPr>
          <p:nvPr>
            <p:ph type="title"/>
          </p:nvPr>
        </p:nvSpPr>
        <p:spPr>
          <a:xfrm>
            <a:off x="914399" y="1143000"/>
            <a:ext cx="21031201" cy="1371600"/>
          </a:xfrm>
        </p:spPr>
        <p:txBody>
          <a:bodyPr/>
          <a:lstStyle/>
          <a:p>
            <a:r>
              <a:rPr lang="en-US">
                <a:latin typeface="Inter"/>
                <a:cs typeface="Poppins"/>
              </a:rPr>
              <a:t>Why use Moving Averages in Trading?</a:t>
            </a:r>
            <a:endParaRPr lang="en-US"/>
          </a:p>
        </p:txBody>
      </p:sp>
      <p:sp>
        <p:nvSpPr>
          <p:cNvPr id="11" name="Text Placeholder 3">
            <a:extLst>
              <a:ext uri="{FF2B5EF4-FFF2-40B4-BE49-F238E27FC236}">
                <a16:creationId xmlns:a16="http://schemas.microsoft.com/office/drawing/2014/main" id="{75DA9FB7-4B17-66F1-7A2B-0780F495FD23}"/>
              </a:ext>
            </a:extLst>
          </p:cNvPr>
          <p:cNvSpPr>
            <a:spLocks noGrp="1"/>
          </p:cNvSpPr>
          <p:nvPr>
            <p:ph type="body" sz="quarter" idx="13"/>
          </p:nvPr>
        </p:nvSpPr>
        <p:spPr>
          <a:xfrm>
            <a:off x="914399" y="685799"/>
            <a:ext cx="6741459" cy="457200"/>
          </a:xfrm>
        </p:spPr>
        <p:txBody>
          <a:bodyPr/>
          <a:lstStyle/>
          <a:p>
            <a:r>
              <a:rPr lang="en-US"/>
              <a:t>Visualizing SMA Crossovers</a:t>
            </a:r>
            <a:endParaRPr lang="en-US">
              <a:solidFill>
                <a:schemeClr val="tx2">
                  <a:lumMod val="75000"/>
                  <a:lumOff val="25000"/>
                </a:schemeClr>
              </a:solidFill>
            </a:endParaRPr>
          </a:p>
        </p:txBody>
      </p:sp>
      <p:sp>
        <p:nvSpPr>
          <p:cNvPr id="6" name="Content Placeholder 6">
            <a:extLst>
              <a:ext uri="{FF2B5EF4-FFF2-40B4-BE49-F238E27FC236}">
                <a16:creationId xmlns:a16="http://schemas.microsoft.com/office/drawing/2014/main" id="{40B3661B-541A-0C04-BAE6-DEF53D9D32B0}"/>
              </a:ext>
            </a:extLst>
          </p:cNvPr>
          <p:cNvSpPr txBox="1">
            <a:spLocks/>
          </p:cNvSpPr>
          <p:nvPr/>
        </p:nvSpPr>
        <p:spPr>
          <a:xfrm>
            <a:off x="13142258" y="3209366"/>
            <a:ext cx="10327342" cy="520423"/>
          </a:xfrm>
          <a:prstGeom prst="rect">
            <a:avLst/>
          </a:prstGeom>
          <a:solidFill>
            <a:srgbClr val="215F9A"/>
          </a:solidFill>
        </p:spPr>
        <p:txBody>
          <a:bodyPr vert="horz" lIns="91440" tIns="45720" rIns="91440" bIns="45720" rtlCol="0">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solidFill>
                  <a:schemeClr val="bg1"/>
                </a:solidFill>
              </a:rPr>
              <a:t>Use for different window sizes</a:t>
            </a:r>
          </a:p>
        </p:txBody>
      </p:sp>
      <p:sp>
        <p:nvSpPr>
          <p:cNvPr id="13" name="Content Placeholder 6">
            <a:extLst>
              <a:ext uri="{FF2B5EF4-FFF2-40B4-BE49-F238E27FC236}">
                <a16:creationId xmlns:a16="http://schemas.microsoft.com/office/drawing/2014/main" id="{4C81C3ED-688D-F2C4-2A42-2B09DE7C633B}"/>
              </a:ext>
            </a:extLst>
          </p:cNvPr>
          <p:cNvSpPr txBox="1">
            <a:spLocks/>
          </p:cNvSpPr>
          <p:nvPr/>
        </p:nvSpPr>
        <p:spPr>
          <a:xfrm>
            <a:off x="914399" y="3209366"/>
            <a:ext cx="10327342" cy="726540"/>
          </a:xfrm>
          <a:prstGeom prst="rect">
            <a:avLst/>
          </a:prstGeom>
          <a:solidFill>
            <a:srgbClr val="215F9A"/>
          </a:solidFill>
        </p:spPr>
        <p:txBody>
          <a:bodyPr vert="horz" lIns="91440" tIns="45720" rIns="91440" bIns="45720" rtlCol="0">
            <a:no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solidFill>
                  <a:schemeClr val="bg1"/>
                </a:solidFill>
              </a:rPr>
              <a:t>Uses</a:t>
            </a:r>
          </a:p>
        </p:txBody>
      </p:sp>
      <p:sp>
        <p:nvSpPr>
          <p:cNvPr id="16" name="Content Placeholder 6">
            <a:extLst>
              <a:ext uri="{FF2B5EF4-FFF2-40B4-BE49-F238E27FC236}">
                <a16:creationId xmlns:a16="http://schemas.microsoft.com/office/drawing/2014/main" id="{61CC0737-7896-84EA-A768-97C0A44198DA}"/>
              </a:ext>
            </a:extLst>
          </p:cNvPr>
          <p:cNvSpPr txBox="1">
            <a:spLocks/>
          </p:cNvSpPr>
          <p:nvPr/>
        </p:nvSpPr>
        <p:spPr>
          <a:xfrm>
            <a:off x="13142258" y="3209366"/>
            <a:ext cx="10327342" cy="726540"/>
          </a:xfrm>
          <a:prstGeom prst="rect">
            <a:avLst/>
          </a:prstGeom>
          <a:solidFill>
            <a:srgbClr val="215F9A"/>
          </a:solidFill>
        </p:spPr>
        <p:txBody>
          <a:bodyPr vert="horz" lIns="91440" tIns="45720" rIns="91440" bIns="45720" rtlCol="0">
            <a:no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solidFill>
                  <a:schemeClr val="bg1"/>
                </a:solidFill>
              </a:rPr>
              <a:t>Types of Moving Averages Most Used in Trading</a:t>
            </a:r>
          </a:p>
        </p:txBody>
      </p:sp>
      <p:sp>
        <p:nvSpPr>
          <p:cNvPr id="9" name="Content Placeholder 7">
            <a:extLst>
              <a:ext uri="{FF2B5EF4-FFF2-40B4-BE49-F238E27FC236}">
                <a16:creationId xmlns:a16="http://schemas.microsoft.com/office/drawing/2014/main" id="{F5815D0C-BC54-82AF-1CC2-064FDE50D838}"/>
              </a:ext>
            </a:extLst>
          </p:cNvPr>
          <p:cNvSpPr txBox="1">
            <a:spLocks/>
          </p:cNvSpPr>
          <p:nvPr/>
        </p:nvSpPr>
        <p:spPr>
          <a:xfrm>
            <a:off x="2286002" y="4435634"/>
            <a:ext cx="8955739" cy="8137366"/>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a:t>Trend Identification:</a:t>
            </a:r>
            <a:br>
              <a:rPr lang="en-US"/>
            </a:br>
            <a:r>
              <a:rPr lang="en-US"/>
              <a:t>They help smooth out price data to reveal the underlying direction.</a:t>
            </a:r>
          </a:p>
          <a:p>
            <a:pPr marL="0" indent="0">
              <a:buFont typeface="Arial" panose="020B0604020202020204" pitchFamily="34" charset="0"/>
              <a:buNone/>
            </a:pPr>
            <a:r>
              <a:rPr lang="en-US" b="1"/>
              <a:t>Signal Generation:</a:t>
            </a:r>
          </a:p>
          <a:p>
            <a:pPr marL="0" indent="0">
              <a:buFont typeface="Arial" panose="020B0604020202020204" pitchFamily="34" charset="0"/>
              <a:buNone/>
            </a:pPr>
            <a:r>
              <a:rPr lang="en-US"/>
              <a:t>Crossovers (e.g., short-term MA crossing above a long-term MA) can indicate buy or sell signals.</a:t>
            </a:r>
          </a:p>
          <a:p>
            <a:pPr marL="0" indent="0">
              <a:buFont typeface="Arial" panose="020B0604020202020204" pitchFamily="34" charset="0"/>
              <a:buNone/>
            </a:pPr>
            <a:r>
              <a:rPr lang="en-US" b="1"/>
              <a:t>Support and Resistance</a:t>
            </a:r>
            <a:r>
              <a:rPr lang="en-US"/>
              <a:t>:</a:t>
            </a:r>
            <a:br>
              <a:rPr lang="en-US"/>
            </a:br>
            <a:r>
              <a:rPr lang="en-US"/>
              <a:t>Moving averages often act as dynamic support or resistance levels where price may bounce or stall.</a:t>
            </a:r>
          </a:p>
          <a:p>
            <a:pPr marL="0" indent="0">
              <a:buFont typeface="Arial" panose="020B0604020202020204" pitchFamily="34" charset="0"/>
              <a:buNone/>
            </a:pPr>
            <a:r>
              <a:rPr lang="en-US" b="1"/>
              <a:t>Noise Reduction:</a:t>
            </a:r>
            <a:br>
              <a:rPr lang="en-US"/>
            </a:br>
            <a:r>
              <a:rPr lang="en-US"/>
              <a:t>By averaging out fluctuations, MAs help traders focus on the big picture rather than reacting to every price movement.</a:t>
            </a:r>
          </a:p>
        </p:txBody>
      </p:sp>
      <p:sp>
        <p:nvSpPr>
          <p:cNvPr id="18" name="Oval 17">
            <a:extLst>
              <a:ext uri="{FF2B5EF4-FFF2-40B4-BE49-F238E27FC236}">
                <a16:creationId xmlns:a16="http://schemas.microsoft.com/office/drawing/2014/main" id="{64D6BA34-9B4F-DE74-C726-3E32A2FB07C1}"/>
              </a:ext>
            </a:extLst>
          </p:cNvPr>
          <p:cNvSpPr/>
          <p:nvPr/>
        </p:nvSpPr>
        <p:spPr>
          <a:xfrm>
            <a:off x="717699" y="4630672"/>
            <a:ext cx="1387548" cy="1371600"/>
          </a:xfrm>
          <a:prstGeom prst="ellipse">
            <a:avLst/>
          </a:prstGeom>
          <a:solidFill>
            <a:srgbClr val="215F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a:t>1</a:t>
            </a:r>
          </a:p>
        </p:txBody>
      </p:sp>
      <p:sp>
        <p:nvSpPr>
          <p:cNvPr id="19" name="Oval 18">
            <a:extLst>
              <a:ext uri="{FF2B5EF4-FFF2-40B4-BE49-F238E27FC236}">
                <a16:creationId xmlns:a16="http://schemas.microsoft.com/office/drawing/2014/main" id="{DC3B7278-8200-D62E-4A37-C9FF619B89CD}"/>
              </a:ext>
            </a:extLst>
          </p:cNvPr>
          <p:cNvSpPr/>
          <p:nvPr/>
        </p:nvSpPr>
        <p:spPr>
          <a:xfrm>
            <a:off x="717699" y="6601089"/>
            <a:ext cx="1387548" cy="1371600"/>
          </a:xfrm>
          <a:prstGeom prst="ellipse">
            <a:avLst/>
          </a:prstGeom>
          <a:solidFill>
            <a:srgbClr val="215F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a:t>2</a:t>
            </a:r>
          </a:p>
        </p:txBody>
      </p:sp>
      <p:sp>
        <p:nvSpPr>
          <p:cNvPr id="20" name="Oval 19">
            <a:extLst>
              <a:ext uri="{FF2B5EF4-FFF2-40B4-BE49-F238E27FC236}">
                <a16:creationId xmlns:a16="http://schemas.microsoft.com/office/drawing/2014/main" id="{AD2CA488-D501-DE88-EB76-EE65DBE4C855}"/>
              </a:ext>
            </a:extLst>
          </p:cNvPr>
          <p:cNvSpPr/>
          <p:nvPr/>
        </p:nvSpPr>
        <p:spPr>
          <a:xfrm>
            <a:off x="717699" y="8571506"/>
            <a:ext cx="1387548" cy="1371600"/>
          </a:xfrm>
          <a:prstGeom prst="ellipse">
            <a:avLst/>
          </a:prstGeom>
          <a:solidFill>
            <a:srgbClr val="215F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a:t>3</a:t>
            </a:r>
          </a:p>
        </p:txBody>
      </p:sp>
      <p:sp>
        <p:nvSpPr>
          <p:cNvPr id="21" name="Oval 20">
            <a:extLst>
              <a:ext uri="{FF2B5EF4-FFF2-40B4-BE49-F238E27FC236}">
                <a16:creationId xmlns:a16="http://schemas.microsoft.com/office/drawing/2014/main" id="{EAED189A-3F39-283E-8454-8E6EBD6AC40A}"/>
              </a:ext>
            </a:extLst>
          </p:cNvPr>
          <p:cNvSpPr/>
          <p:nvPr/>
        </p:nvSpPr>
        <p:spPr>
          <a:xfrm>
            <a:off x="717699" y="10541923"/>
            <a:ext cx="1387548" cy="1371600"/>
          </a:xfrm>
          <a:prstGeom prst="ellipse">
            <a:avLst/>
          </a:prstGeom>
          <a:solidFill>
            <a:srgbClr val="215F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a:t>4</a:t>
            </a:r>
          </a:p>
        </p:txBody>
      </p:sp>
      <p:sp>
        <p:nvSpPr>
          <p:cNvPr id="22" name="Content Placeholder 7">
            <a:extLst>
              <a:ext uri="{FF2B5EF4-FFF2-40B4-BE49-F238E27FC236}">
                <a16:creationId xmlns:a16="http://schemas.microsoft.com/office/drawing/2014/main" id="{DFE95669-6036-99F5-6104-4AD877F51BB7}"/>
              </a:ext>
            </a:extLst>
          </p:cNvPr>
          <p:cNvSpPr txBox="1">
            <a:spLocks/>
          </p:cNvSpPr>
          <p:nvPr/>
        </p:nvSpPr>
        <p:spPr>
          <a:xfrm>
            <a:off x="13142258" y="4707715"/>
            <a:ext cx="10327342" cy="3101918"/>
          </a:xfrm>
          <a:prstGeom prst="rect">
            <a:avLst/>
          </a:prstGeom>
          <a:solidFill>
            <a:schemeClr val="bg1">
              <a:lumMod val="95000"/>
            </a:schemeClr>
          </a:solidFill>
          <a:ln>
            <a:solidFill>
              <a:srgbClr val="215F9A"/>
            </a:solidFill>
          </a:ln>
        </p:spPr>
        <p:txBody>
          <a:bodyPr vert="horz" lIns="91440" tIns="45720" rIns="91440" bIns="45720" rtlCol="0" anchor="ct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800"/>
              <a:t>Simple Moving Average</a:t>
            </a:r>
          </a:p>
        </p:txBody>
      </p:sp>
      <p:sp>
        <p:nvSpPr>
          <p:cNvPr id="27" name="Content Placeholder 7">
            <a:extLst>
              <a:ext uri="{FF2B5EF4-FFF2-40B4-BE49-F238E27FC236}">
                <a16:creationId xmlns:a16="http://schemas.microsoft.com/office/drawing/2014/main" id="{789ABA94-059F-C43C-C323-D4FBB011FCC9}"/>
              </a:ext>
            </a:extLst>
          </p:cNvPr>
          <p:cNvSpPr txBox="1">
            <a:spLocks/>
          </p:cNvSpPr>
          <p:nvPr/>
        </p:nvSpPr>
        <p:spPr>
          <a:xfrm>
            <a:off x="13135170" y="8571506"/>
            <a:ext cx="10327342" cy="3101919"/>
          </a:xfrm>
          <a:prstGeom prst="rect">
            <a:avLst/>
          </a:prstGeom>
          <a:solidFill>
            <a:schemeClr val="bg1">
              <a:lumMod val="95000"/>
            </a:schemeClr>
          </a:solidFill>
          <a:ln>
            <a:solidFill>
              <a:srgbClr val="215F9A"/>
            </a:solidFill>
          </a:ln>
        </p:spPr>
        <p:txBody>
          <a:bodyPr vert="horz" lIns="91440" tIns="45720" rIns="91440" bIns="45720" rtlCol="0" anchor="ct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800"/>
              <a:t>Exponential Moving Average</a:t>
            </a:r>
          </a:p>
        </p:txBody>
      </p:sp>
    </p:spTree>
    <p:extLst>
      <p:ext uri="{BB962C8B-B14F-4D97-AF65-F5344CB8AC3E}">
        <p14:creationId xmlns:p14="http://schemas.microsoft.com/office/powerpoint/2010/main" val="33796860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F6D3B-A6E4-36AE-99E3-FEC6E74C9A8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93B29C0-8AFC-1410-7B71-834BB560B144}"/>
              </a:ext>
            </a:extLst>
          </p:cNvPr>
          <p:cNvSpPr>
            <a:spLocks noGrp="1"/>
          </p:cNvSpPr>
          <p:nvPr>
            <p:ph type="title"/>
          </p:nvPr>
        </p:nvSpPr>
        <p:spPr>
          <a:xfrm>
            <a:off x="1206496" y="4533899"/>
            <a:ext cx="22525374" cy="4648201"/>
          </a:xfrm>
        </p:spPr>
        <p:txBody>
          <a:bodyPr/>
          <a:lstStyle/>
          <a:p>
            <a:r>
              <a:rPr lang="en-US"/>
              <a:t>How can we use moving average crossovers as a technical indicator in backtesting?</a:t>
            </a:r>
          </a:p>
        </p:txBody>
      </p:sp>
    </p:spTree>
    <p:extLst>
      <p:ext uri="{BB962C8B-B14F-4D97-AF65-F5344CB8AC3E}">
        <p14:creationId xmlns:p14="http://schemas.microsoft.com/office/powerpoint/2010/main" val="2085863613"/>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F3E1F-E082-5B18-E075-C9CADB000C75}"/>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56D96715-2428-7D7A-4F7C-A063468AACC5}"/>
              </a:ext>
            </a:extLst>
          </p:cNvPr>
          <p:cNvSpPr>
            <a:spLocks noGrp="1"/>
          </p:cNvSpPr>
          <p:nvPr>
            <p:ph type="body" sz="quarter" idx="13"/>
          </p:nvPr>
        </p:nvSpPr>
        <p:spPr>
          <a:xfrm>
            <a:off x="914399" y="685800"/>
            <a:ext cx="7726671" cy="457200"/>
          </a:xfrm>
        </p:spPr>
        <p:txBody>
          <a:bodyPr/>
          <a:lstStyle/>
          <a:p>
            <a:r>
              <a:rPr lang="en-US"/>
              <a:t>Visualizing SMA Crossovers</a:t>
            </a:r>
            <a:endParaRPr lang="en-US">
              <a:solidFill>
                <a:schemeClr val="tx2">
                  <a:lumMod val="75000"/>
                  <a:lumOff val="25000"/>
                </a:schemeClr>
              </a:solidFill>
            </a:endParaRPr>
          </a:p>
        </p:txBody>
      </p:sp>
      <p:sp>
        <p:nvSpPr>
          <p:cNvPr id="5" name="Slide Number Placeholder 4">
            <a:extLst>
              <a:ext uri="{FF2B5EF4-FFF2-40B4-BE49-F238E27FC236}">
                <a16:creationId xmlns:a16="http://schemas.microsoft.com/office/drawing/2014/main" id="{72354D73-92DD-3C34-C9D9-7E0FA25003D5}"/>
              </a:ext>
            </a:extLst>
          </p:cNvPr>
          <p:cNvSpPr>
            <a:spLocks noGrp="1"/>
          </p:cNvSpPr>
          <p:nvPr>
            <p:ph type="sldNum" sz="quarter" idx="14"/>
          </p:nvPr>
        </p:nvSpPr>
        <p:spPr/>
        <p:txBody>
          <a:bodyPr/>
          <a:lstStyle/>
          <a:p>
            <a:fld id="{86CB4B4D-7CA3-9044-876B-883B54F8677D}" type="slidenum">
              <a:rPr lang="en-US" smtClean="0"/>
              <a:pPr/>
              <a:t>6</a:t>
            </a:fld>
            <a:endParaRPr lang="en-US"/>
          </a:p>
        </p:txBody>
      </p:sp>
      <p:sp>
        <p:nvSpPr>
          <p:cNvPr id="6" name="Title 5">
            <a:extLst>
              <a:ext uri="{FF2B5EF4-FFF2-40B4-BE49-F238E27FC236}">
                <a16:creationId xmlns:a16="http://schemas.microsoft.com/office/drawing/2014/main" id="{9F4597D1-486A-E8E6-5E9F-1018ECE84472}"/>
              </a:ext>
            </a:extLst>
          </p:cNvPr>
          <p:cNvSpPr>
            <a:spLocks noGrp="1"/>
          </p:cNvSpPr>
          <p:nvPr>
            <p:ph type="title"/>
          </p:nvPr>
        </p:nvSpPr>
        <p:spPr/>
        <p:txBody>
          <a:bodyPr>
            <a:normAutofit/>
          </a:bodyPr>
          <a:lstStyle/>
          <a:p>
            <a:r>
              <a:rPr lang="en-US">
                <a:latin typeface="Inter"/>
                <a:cs typeface="Poppins"/>
              </a:rPr>
              <a:t>How Moving Average Smoothens Out Noise</a:t>
            </a:r>
            <a:endParaRPr lang="en-US"/>
          </a:p>
        </p:txBody>
      </p:sp>
      <p:pic>
        <p:nvPicPr>
          <p:cNvPr id="2" name="Picture 1" descr="Moving Average Filter: Towards Signal Noise Reduction">
            <a:extLst>
              <a:ext uri="{FF2B5EF4-FFF2-40B4-BE49-F238E27FC236}">
                <a16:creationId xmlns:a16="http://schemas.microsoft.com/office/drawing/2014/main" id="{E78A1E20-FC57-25BB-8705-552F7ABFB121}"/>
              </a:ext>
            </a:extLst>
          </p:cNvPr>
          <p:cNvPicPr>
            <a:picLocks noChangeAspect="1"/>
          </p:cNvPicPr>
          <p:nvPr/>
        </p:nvPicPr>
        <p:blipFill>
          <a:blip r:embed="rId2"/>
          <a:stretch>
            <a:fillRect/>
          </a:stretch>
        </p:blipFill>
        <p:spPr>
          <a:xfrm>
            <a:off x="1924483" y="2234563"/>
            <a:ext cx="20661744" cy="10269296"/>
          </a:xfrm>
          <a:prstGeom prst="rect">
            <a:avLst/>
          </a:prstGeom>
        </p:spPr>
      </p:pic>
    </p:spTree>
    <p:extLst>
      <p:ext uri="{BB962C8B-B14F-4D97-AF65-F5344CB8AC3E}">
        <p14:creationId xmlns:p14="http://schemas.microsoft.com/office/powerpoint/2010/main" val="12259480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B7570-8298-020A-B526-1B71AAF74EAC}"/>
            </a:ext>
          </a:extLst>
        </p:cNvPr>
        <p:cNvGrpSpPr/>
        <p:nvPr/>
      </p:nvGrpSpPr>
      <p:grpSpPr>
        <a:xfrm>
          <a:off x="0" y="0"/>
          <a:ext cx="0" cy="0"/>
          <a:chOff x="0" y="0"/>
          <a:chExt cx="0" cy="0"/>
        </a:xfrm>
      </p:grpSpPr>
      <p:sp>
        <p:nvSpPr>
          <p:cNvPr id="7" name="Content Placeholder 6">
            <a:extLst>
              <a:ext uri="{FF2B5EF4-FFF2-40B4-BE49-F238E27FC236}">
                <a16:creationId xmlns:a16="http://schemas.microsoft.com/office/drawing/2014/main" id="{D64A9258-FBDD-C6D8-18AD-782445F0D802}"/>
              </a:ext>
            </a:extLst>
          </p:cNvPr>
          <p:cNvSpPr>
            <a:spLocks noGrp="1"/>
          </p:cNvSpPr>
          <p:nvPr>
            <p:ph sz="half" idx="1"/>
          </p:nvPr>
        </p:nvSpPr>
        <p:spPr>
          <a:xfrm>
            <a:off x="914400" y="3209366"/>
            <a:ext cx="10327342" cy="520423"/>
          </a:xfrm>
          <a:solidFill>
            <a:srgbClr val="215F9A"/>
          </a:solidFill>
        </p:spPr>
        <p:txBody>
          <a:bodyPr>
            <a:normAutofit fontScale="77500" lnSpcReduction="20000"/>
          </a:bodyPr>
          <a:lstStyle/>
          <a:p>
            <a:pPr marL="0" indent="0" algn="ctr">
              <a:buNone/>
            </a:pPr>
            <a:r>
              <a:rPr lang="en-US">
                <a:solidFill>
                  <a:schemeClr val="bg1"/>
                </a:solidFill>
              </a:rPr>
              <a:t>Equation</a:t>
            </a:r>
          </a:p>
        </p:txBody>
      </p:sp>
      <p:sp>
        <p:nvSpPr>
          <p:cNvPr id="8" name="Content Placeholder 7">
            <a:extLst>
              <a:ext uri="{FF2B5EF4-FFF2-40B4-BE49-F238E27FC236}">
                <a16:creationId xmlns:a16="http://schemas.microsoft.com/office/drawing/2014/main" id="{945CB375-A7B7-58F0-09AD-94651CC2A7C1}"/>
              </a:ext>
            </a:extLst>
          </p:cNvPr>
          <p:cNvSpPr>
            <a:spLocks noGrp="1"/>
          </p:cNvSpPr>
          <p:nvPr>
            <p:ph sz="half" idx="2"/>
          </p:nvPr>
        </p:nvSpPr>
        <p:spPr>
          <a:xfrm>
            <a:off x="13142258" y="3969275"/>
            <a:ext cx="10327342" cy="8626547"/>
          </a:xfrm>
        </p:spPr>
        <p:txBody>
          <a:bodyPr>
            <a:normAutofit lnSpcReduction="10000"/>
          </a:bodyPr>
          <a:lstStyle/>
          <a:p>
            <a:pPr marL="0" indent="0">
              <a:buNone/>
            </a:pPr>
            <a:r>
              <a:rPr lang="en-US" b="1"/>
              <a:t>50– Day SMA</a:t>
            </a:r>
          </a:p>
          <a:p>
            <a:pPr>
              <a:buFont typeface="Wingdings" pitchFamily="2" charset="2"/>
              <a:buChar char="§"/>
            </a:pPr>
            <a:r>
              <a:rPr lang="en-US"/>
              <a:t>Key benchmark for stock and index charts</a:t>
            </a:r>
          </a:p>
          <a:p>
            <a:pPr>
              <a:buFont typeface="Wingdings" pitchFamily="2" charset="2"/>
              <a:buChar char="§"/>
            </a:pPr>
            <a:r>
              <a:rPr lang="en-US"/>
              <a:t>Helps investors avoid reacting to short-term dips in up trending stocks</a:t>
            </a:r>
          </a:p>
          <a:p>
            <a:pPr>
              <a:lnSpc>
                <a:spcPct val="200000"/>
              </a:lnSpc>
              <a:buFont typeface="Wingdings" pitchFamily="2" charset="2"/>
              <a:buChar char="§"/>
            </a:pPr>
            <a:r>
              <a:rPr lang="en-US"/>
              <a:t>Often paired with short-term EMA to confirm pricing positions</a:t>
            </a:r>
          </a:p>
          <a:p>
            <a:pPr marL="0" indent="0">
              <a:lnSpc>
                <a:spcPct val="200000"/>
              </a:lnSpc>
              <a:buNone/>
            </a:pPr>
            <a:r>
              <a:rPr lang="en-US" b="1"/>
              <a:t>200 – Day SMA</a:t>
            </a:r>
          </a:p>
          <a:p>
            <a:pPr>
              <a:buFont typeface="Wingdings" pitchFamily="2" charset="2"/>
              <a:buChar char="§"/>
            </a:pPr>
            <a:r>
              <a:rPr lang="en-US"/>
              <a:t>Key long-term trend indicator and support level</a:t>
            </a:r>
          </a:p>
          <a:p>
            <a:pPr>
              <a:buFont typeface="Wingdings" pitchFamily="2" charset="2"/>
              <a:buChar char="§"/>
            </a:pPr>
            <a:r>
              <a:rPr lang="en-US"/>
              <a:t>Widely used across markets and strategies for bullish trends</a:t>
            </a:r>
          </a:p>
          <a:p>
            <a:pPr>
              <a:buFont typeface="Wingdings" pitchFamily="2" charset="2"/>
              <a:buChar char="§"/>
            </a:pPr>
            <a:r>
              <a:rPr lang="en-US"/>
              <a:t>Often used by swing traders to time entry/exit positions</a:t>
            </a:r>
          </a:p>
          <a:p>
            <a:pPr marL="0" indent="0">
              <a:buNone/>
            </a:pPr>
            <a:endParaRPr lang="en-US"/>
          </a:p>
          <a:p>
            <a:pPr marL="0" indent="0">
              <a:buNone/>
            </a:pPr>
            <a:r>
              <a:rPr lang="en-US"/>
              <a:t>We will be analyzing the crossover of the 50 and 200 Day SMAs.</a:t>
            </a:r>
          </a:p>
          <a:p>
            <a:pPr marL="0" indent="0">
              <a:buNone/>
            </a:pPr>
            <a:endParaRPr lang="en-US"/>
          </a:p>
        </p:txBody>
      </p:sp>
      <p:sp>
        <p:nvSpPr>
          <p:cNvPr id="5" name="Slide Number Placeholder 4">
            <a:extLst>
              <a:ext uri="{FF2B5EF4-FFF2-40B4-BE49-F238E27FC236}">
                <a16:creationId xmlns:a16="http://schemas.microsoft.com/office/drawing/2014/main" id="{CE2F9F81-E849-38CE-F4F8-8BE2811B373A}"/>
              </a:ext>
            </a:extLst>
          </p:cNvPr>
          <p:cNvSpPr>
            <a:spLocks noGrp="1"/>
          </p:cNvSpPr>
          <p:nvPr>
            <p:ph type="sldNum" sz="quarter" idx="14"/>
          </p:nvPr>
        </p:nvSpPr>
        <p:spPr/>
        <p:txBody>
          <a:bodyPr/>
          <a:lstStyle/>
          <a:p>
            <a:fld id="{86CB4B4D-7CA3-9044-876B-883B54F8677D}" type="slidenum">
              <a:rPr lang="en-US" smtClean="0"/>
              <a:pPr/>
              <a:t>7</a:t>
            </a:fld>
            <a:endParaRPr lang="en-US"/>
          </a:p>
        </p:txBody>
      </p:sp>
      <p:sp>
        <p:nvSpPr>
          <p:cNvPr id="10" name="Title 1">
            <a:extLst>
              <a:ext uri="{FF2B5EF4-FFF2-40B4-BE49-F238E27FC236}">
                <a16:creationId xmlns:a16="http://schemas.microsoft.com/office/drawing/2014/main" id="{739A0050-1836-7007-AE4D-E9CFF4705B40}"/>
              </a:ext>
            </a:extLst>
          </p:cNvPr>
          <p:cNvSpPr>
            <a:spLocks noGrp="1"/>
          </p:cNvSpPr>
          <p:nvPr>
            <p:ph type="title"/>
          </p:nvPr>
        </p:nvSpPr>
        <p:spPr>
          <a:xfrm>
            <a:off x="914399" y="1143000"/>
            <a:ext cx="21031201" cy="1371600"/>
          </a:xfrm>
        </p:spPr>
        <p:txBody>
          <a:bodyPr/>
          <a:lstStyle/>
          <a:p>
            <a:r>
              <a:rPr lang="en-US"/>
              <a:t>SMA – Simple Moving Average</a:t>
            </a:r>
          </a:p>
        </p:txBody>
      </p:sp>
      <p:sp>
        <p:nvSpPr>
          <p:cNvPr id="11" name="Text Placeholder 3">
            <a:extLst>
              <a:ext uri="{FF2B5EF4-FFF2-40B4-BE49-F238E27FC236}">
                <a16:creationId xmlns:a16="http://schemas.microsoft.com/office/drawing/2014/main" id="{7936D899-27DD-3D30-2970-8C7D61854305}"/>
              </a:ext>
            </a:extLst>
          </p:cNvPr>
          <p:cNvSpPr>
            <a:spLocks noGrp="1"/>
          </p:cNvSpPr>
          <p:nvPr>
            <p:ph type="body" sz="quarter" idx="13"/>
          </p:nvPr>
        </p:nvSpPr>
        <p:spPr>
          <a:xfrm>
            <a:off x="914399" y="685799"/>
            <a:ext cx="6741459" cy="457200"/>
          </a:xfrm>
        </p:spPr>
        <p:txBody>
          <a:bodyPr/>
          <a:lstStyle/>
          <a:p>
            <a:r>
              <a:rPr lang="en-US"/>
              <a:t>Visualizing SMA Crossovers</a:t>
            </a:r>
            <a:endParaRPr lang="en-US">
              <a:solidFill>
                <a:schemeClr val="tx2">
                  <a:lumMod val="75000"/>
                  <a:lumOff val="25000"/>
                </a:schemeClr>
              </a:solidFill>
            </a:endParaRPr>
          </a:p>
        </p:txBody>
      </p:sp>
      <p:pic>
        <p:nvPicPr>
          <p:cNvPr id="2" name="Picture 1">
            <a:extLst>
              <a:ext uri="{FF2B5EF4-FFF2-40B4-BE49-F238E27FC236}">
                <a16:creationId xmlns:a16="http://schemas.microsoft.com/office/drawing/2014/main" id="{AD2AB6FE-A500-0E02-5B19-F4D793D1BABE}"/>
              </a:ext>
            </a:extLst>
          </p:cNvPr>
          <p:cNvPicPr>
            <a:picLocks noChangeAspect="1"/>
          </p:cNvPicPr>
          <p:nvPr/>
        </p:nvPicPr>
        <p:blipFill>
          <a:blip r:embed="rId2"/>
          <a:stretch>
            <a:fillRect/>
          </a:stretch>
        </p:blipFill>
        <p:spPr>
          <a:xfrm>
            <a:off x="914400" y="3969275"/>
            <a:ext cx="10327342" cy="3056050"/>
          </a:xfrm>
          <a:prstGeom prst="rect">
            <a:avLst/>
          </a:prstGeom>
        </p:spPr>
      </p:pic>
      <p:sp>
        <p:nvSpPr>
          <p:cNvPr id="3" name="Content Placeholder 6">
            <a:extLst>
              <a:ext uri="{FF2B5EF4-FFF2-40B4-BE49-F238E27FC236}">
                <a16:creationId xmlns:a16="http://schemas.microsoft.com/office/drawing/2014/main" id="{4B78AC9E-89B0-F48F-16BB-97FC87339B99}"/>
              </a:ext>
            </a:extLst>
          </p:cNvPr>
          <p:cNvSpPr txBox="1">
            <a:spLocks/>
          </p:cNvSpPr>
          <p:nvPr/>
        </p:nvSpPr>
        <p:spPr>
          <a:xfrm>
            <a:off x="914399" y="7133834"/>
            <a:ext cx="10327342" cy="726540"/>
          </a:xfrm>
          <a:prstGeom prst="rect">
            <a:avLst/>
          </a:prstGeom>
          <a:solidFill>
            <a:srgbClr val="215F9A"/>
          </a:solidFill>
        </p:spPr>
        <p:txBody>
          <a:bodyPr vert="horz" lIns="91440" tIns="45720" rIns="91440" bIns="45720" rtlCol="0">
            <a:no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solidFill>
                  <a:schemeClr val="bg1"/>
                </a:solidFill>
              </a:rPr>
              <a:t>Components</a:t>
            </a:r>
          </a:p>
        </p:txBody>
      </p:sp>
      <p:sp>
        <p:nvSpPr>
          <p:cNvPr id="4" name="TextBox 3">
            <a:extLst>
              <a:ext uri="{FF2B5EF4-FFF2-40B4-BE49-F238E27FC236}">
                <a16:creationId xmlns:a16="http://schemas.microsoft.com/office/drawing/2014/main" id="{76020C6A-2599-0182-E9E4-4DD9DD99B026}"/>
              </a:ext>
            </a:extLst>
          </p:cNvPr>
          <p:cNvSpPr txBox="1"/>
          <p:nvPr/>
        </p:nvSpPr>
        <p:spPr>
          <a:xfrm>
            <a:off x="914399" y="7849798"/>
            <a:ext cx="10327342" cy="4339650"/>
          </a:xfrm>
          <a:prstGeom prst="rect">
            <a:avLst/>
          </a:prstGeom>
          <a:noFill/>
          <a:ln>
            <a:solidFill>
              <a:srgbClr val="0C111D"/>
            </a:solidFill>
            <a:prstDash val="solid"/>
          </a:ln>
        </p:spPr>
        <p:txBody>
          <a:bodyPr wrap="square" rtlCol="0" anchor="ctr">
            <a:spAutoFit/>
          </a:bodyPr>
          <a:lstStyle/>
          <a:p>
            <a:pPr>
              <a:lnSpc>
                <a:spcPct val="150000"/>
              </a:lnSpc>
            </a:pPr>
            <a:r>
              <a:rPr kumimoji="0" lang="en-US" sz="2800" b="1" i="0" u="none" strike="noStrike" kern="1200" cap="none" spc="0" normalizeH="0" baseline="0" noProof="0" err="1">
                <a:ln>
                  <a:noFill/>
                </a:ln>
                <a:solidFill>
                  <a:srgbClr val="667085"/>
                </a:solidFill>
                <a:effectLst/>
                <a:uLnTx/>
                <a:uFillTx/>
                <a:latin typeface="Inter" panose="02000503000000020004" pitchFamily="2" charset="0"/>
                <a:cs typeface="Poppins" pitchFamily="2" charset="77"/>
              </a:rPr>
              <a:t>SMA</a:t>
            </a:r>
            <a:r>
              <a:rPr kumimoji="0" lang="en-US" sz="2800" b="1" i="0" u="none" strike="noStrike" kern="1200" cap="none" spc="0" normalizeH="0" baseline="-25000" noProof="0" err="1">
                <a:ln>
                  <a:noFill/>
                </a:ln>
                <a:solidFill>
                  <a:srgbClr val="667085"/>
                </a:solidFill>
                <a:effectLst/>
                <a:uLnTx/>
                <a:uFillTx/>
                <a:latin typeface="Inter" panose="02000503000000020004" pitchFamily="2" charset="0"/>
                <a:cs typeface="Poppins" pitchFamily="2" charset="77"/>
              </a:rPr>
              <a:t>i</a:t>
            </a:r>
            <a:r>
              <a:rPr kumimoji="0" lang="en-US" sz="2800" b="1" i="0" u="none" strike="noStrike" kern="1200" cap="none" spc="0" normalizeH="0" baseline="0" noProof="0">
                <a:ln>
                  <a:noFill/>
                </a:ln>
                <a:solidFill>
                  <a:srgbClr val="667085"/>
                </a:solidFill>
                <a:effectLst/>
                <a:uLnTx/>
                <a:uFillTx/>
                <a:latin typeface="Inter" panose="02000503000000020004" pitchFamily="2" charset="0"/>
                <a:cs typeface="Poppins" pitchFamily="2" charset="77"/>
              </a:rPr>
              <a:t> = the average of the last n data points ending at time t</a:t>
            </a:r>
          </a:p>
          <a:p>
            <a:pPr>
              <a:lnSpc>
                <a:spcPct val="150000"/>
              </a:lnSpc>
            </a:pPr>
            <a:r>
              <a:rPr kumimoji="0" lang="en-US" sz="2800" b="1" i="0" u="none" strike="noStrike" kern="1200" cap="none" spc="0" normalizeH="0" baseline="0" noProof="0">
                <a:ln>
                  <a:noFill/>
                </a:ln>
                <a:solidFill>
                  <a:srgbClr val="667085"/>
                </a:solidFill>
                <a:effectLst/>
                <a:uLnTx/>
                <a:uFillTx/>
                <a:latin typeface="Inter" panose="02000503000000020004" pitchFamily="2" charset="0"/>
                <a:cs typeface="Poppins" pitchFamily="2" charset="77"/>
              </a:rPr>
              <a:t>n = window size</a:t>
            </a:r>
          </a:p>
          <a:p>
            <a:pPr>
              <a:lnSpc>
                <a:spcPct val="150000"/>
              </a:lnSpc>
            </a:pPr>
            <a:r>
              <a:rPr kumimoji="0" lang="en-US" sz="2800" b="1" i="0" u="none" strike="noStrike" kern="1200" cap="none" spc="0" normalizeH="0" baseline="0" noProof="0">
                <a:ln>
                  <a:noFill/>
                </a:ln>
                <a:solidFill>
                  <a:srgbClr val="667085"/>
                </a:solidFill>
                <a:effectLst/>
                <a:uLnTx/>
                <a:uFillTx/>
                <a:latin typeface="Inter" panose="02000503000000020004" pitchFamily="2" charset="0"/>
                <a:cs typeface="Poppins" pitchFamily="2" charset="77"/>
              </a:rPr>
              <a:t>P</a:t>
            </a:r>
            <a:r>
              <a:rPr lang="en-US" sz="2800" b="1" kern="1200" baseline="-25000" err="1">
                <a:solidFill>
                  <a:srgbClr val="667085"/>
                </a:solidFill>
                <a:latin typeface="Inter" panose="02000503000000020004" pitchFamily="2" charset="0"/>
                <a:cs typeface="Poppins" pitchFamily="2" charset="77"/>
              </a:rPr>
              <a:t>i</a:t>
            </a:r>
            <a:r>
              <a:rPr kumimoji="0" lang="en-US" sz="2800" b="1" i="0" u="none" strike="noStrike" kern="1200" cap="none" spc="0" normalizeH="0" baseline="0" noProof="0">
                <a:ln>
                  <a:noFill/>
                </a:ln>
                <a:solidFill>
                  <a:srgbClr val="667085"/>
                </a:solidFill>
                <a:effectLst/>
                <a:uLnTx/>
                <a:uFillTx/>
                <a:latin typeface="Inter" panose="02000503000000020004" pitchFamily="2" charset="0"/>
                <a:cs typeface="Poppins" pitchFamily="2" charset="77"/>
              </a:rPr>
              <a:t> = price at time </a:t>
            </a:r>
            <a:r>
              <a:rPr kumimoji="0" lang="en-US" sz="2800" b="1" i="0" u="none" strike="noStrike" kern="1200" cap="none" spc="0" normalizeH="0" baseline="0" noProof="0" err="1">
                <a:ln>
                  <a:noFill/>
                </a:ln>
                <a:solidFill>
                  <a:srgbClr val="667085"/>
                </a:solidFill>
                <a:effectLst/>
                <a:uLnTx/>
                <a:uFillTx/>
                <a:latin typeface="Inter" panose="02000503000000020004" pitchFamily="2" charset="0"/>
                <a:cs typeface="Poppins" pitchFamily="2" charset="77"/>
              </a:rPr>
              <a:t>i</a:t>
            </a:r>
            <a:endParaRPr kumimoji="0" lang="en-US" sz="2800" b="1" i="0" u="none" strike="noStrike" kern="1200" cap="none" spc="0" normalizeH="0" baseline="0" noProof="0">
              <a:ln>
                <a:noFill/>
              </a:ln>
              <a:solidFill>
                <a:srgbClr val="667085"/>
              </a:solidFill>
              <a:effectLst/>
              <a:uLnTx/>
              <a:uFillTx/>
              <a:latin typeface="Inter" panose="02000503000000020004" pitchFamily="2" charset="0"/>
              <a:cs typeface="Poppins" pitchFamily="2" charset="77"/>
            </a:endParaRPr>
          </a:p>
          <a:p>
            <a:pPr>
              <a:lnSpc>
                <a:spcPct val="150000"/>
              </a:lnSpc>
            </a:pPr>
            <a:r>
              <a:rPr kumimoji="0" lang="en-US" sz="2800" b="1" i="0" u="none" strike="noStrike" kern="1200" cap="none" spc="0" normalizeH="0" baseline="0" noProof="0">
                <a:ln>
                  <a:noFill/>
                </a:ln>
                <a:solidFill>
                  <a:srgbClr val="667085"/>
                </a:solidFill>
                <a:effectLst/>
                <a:uLnTx/>
                <a:uFillTx/>
                <a:latin typeface="Inter" panose="02000503000000020004" pitchFamily="2" charset="0"/>
                <a:cs typeface="Poppins" pitchFamily="2" charset="77"/>
              </a:rPr>
              <a:t>t = total observed values</a:t>
            </a:r>
          </a:p>
          <a:p>
            <a:pPr>
              <a:lnSpc>
                <a:spcPct val="150000"/>
              </a:lnSpc>
            </a:pPr>
            <a:r>
              <a:rPr kumimoji="0" lang="el-GR" sz="2800" b="1" i="0" u="none" strike="noStrike" kern="1200" cap="none" spc="0" normalizeH="0" baseline="0" noProof="0">
                <a:ln>
                  <a:noFill/>
                </a:ln>
                <a:solidFill>
                  <a:srgbClr val="667085"/>
                </a:solidFill>
                <a:effectLst/>
                <a:uLnTx/>
                <a:uFillTx/>
                <a:latin typeface="Inter" panose="02000503000000020004" pitchFamily="2" charset="0"/>
                <a:cs typeface="Poppins" pitchFamily="2" charset="77"/>
              </a:rPr>
              <a:t>Σ</a:t>
            </a:r>
            <a:r>
              <a:rPr lang="en-US" sz="2800" b="1" kern="1200" baseline="30000" err="1">
                <a:solidFill>
                  <a:srgbClr val="667085"/>
                </a:solidFill>
                <a:latin typeface="Inter" panose="02000503000000020004" pitchFamily="2" charset="0"/>
                <a:cs typeface="Poppins" pitchFamily="2" charset="77"/>
              </a:rPr>
              <a:t>t</a:t>
            </a:r>
            <a:r>
              <a:rPr lang="en-US" sz="2800" b="1" kern="1200" baseline="-25000" err="1">
                <a:solidFill>
                  <a:srgbClr val="667085"/>
                </a:solidFill>
                <a:latin typeface="Inter" panose="02000503000000020004" pitchFamily="2" charset="0"/>
                <a:cs typeface="Poppins" pitchFamily="2" charset="77"/>
              </a:rPr>
              <a:t>i</a:t>
            </a:r>
            <a:r>
              <a:rPr lang="en-US" sz="2800" b="1" kern="1200" baseline="-25000">
                <a:solidFill>
                  <a:srgbClr val="667085"/>
                </a:solidFill>
                <a:latin typeface="Inter" panose="02000503000000020004" pitchFamily="2" charset="0"/>
                <a:cs typeface="Poppins" pitchFamily="2" charset="77"/>
              </a:rPr>
              <a:t>=t-n+1</a:t>
            </a:r>
            <a:r>
              <a:rPr kumimoji="0" lang="en-US" sz="2800" b="1" i="0" u="none" strike="noStrike" kern="1200" cap="none" spc="0" normalizeH="0" baseline="0" noProof="0">
                <a:ln>
                  <a:noFill/>
                </a:ln>
                <a:solidFill>
                  <a:srgbClr val="667085"/>
                </a:solidFill>
                <a:effectLst/>
                <a:uLnTx/>
                <a:uFillTx/>
                <a:latin typeface="Inter" panose="02000503000000020004" pitchFamily="2" charset="0"/>
                <a:cs typeface="Poppins" pitchFamily="2" charset="77"/>
              </a:rPr>
              <a:t> = summation of the prices over the window size (starts at earliest of n points and goes to t, the most recent)</a:t>
            </a:r>
            <a:endParaRPr lang="en-US"/>
          </a:p>
          <a:p>
            <a:pPr algn="l"/>
            <a:endParaRPr lang="en-US"/>
          </a:p>
        </p:txBody>
      </p:sp>
      <p:sp>
        <p:nvSpPr>
          <p:cNvPr id="6" name="Content Placeholder 6">
            <a:extLst>
              <a:ext uri="{FF2B5EF4-FFF2-40B4-BE49-F238E27FC236}">
                <a16:creationId xmlns:a16="http://schemas.microsoft.com/office/drawing/2014/main" id="{04E813D9-F9B4-4198-76F9-2E6A706ACD78}"/>
              </a:ext>
            </a:extLst>
          </p:cNvPr>
          <p:cNvSpPr txBox="1">
            <a:spLocks/>
          </p:cNvSpPr>
          <p:nvPr/>
        </p:nvSpPr>
        <p:spPr>
          <a:xfrm>
            <a:off x="13142258" y="3209366"/>
            <a:ext cx="10327342" cy="520423"/>
          </a:xfrm>
          <a:prstGeom prst="rect">
            <a:avLst/>
          </a:prstGeom>
          <a:solidFill>
            <a:srgbClr val="215F9A"/>
          </a:solidFill>
        </p:spPr>
        <p:txBody>
          <a:bodyPr vert="horz" lIns="91440" tIns="45720" rIns="91440" bIns="45720" rtlCol="0">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solidFill>
                  <a:schemeClr val="bg1"/>
                </a:solidFill>
              </a:rPr>
              <a:t>Use for different window sizes</a:t>
            </a:r>
          </a:p>
        </p:txBody>
      </p:sp>
      <p:sp>
        <p:nvSpPr>
          <p:cNvPr id="13" name="Content Placeholder 6">
            <a:extLst>
              <a:ext uri="{FF2B5EF4-FFF2-40B4-BE49-F238E27FC236}">
                <a16:creationId xmlns:a16="http://schemas.microsoft.com/office/drawing/2014/main" id="{C843A4A2-0401-D1CD-D973-DA2E276EED81}"/>
              </a:ext>
            </a:extLst>
          </p:cNvPr>
          <p:cNvSpPr txBox="1">
            <a:spLocks/>
          </p:cNvSpPr>
          <p:nvPr/>
        </p:nvSpPr>
        <p:spPr>
          <a:xfrm>
            <a:off x="914399" y="3209366"/>
            <a:ext cx="10327342" cy="726540"/>
          </a:xfrm>
          <a:prstGeom prst="rect">
            <a:avLst/>
          </a:prstGeom>
          <a:solidFill>
            <a:srgbClr val="215F9A"/>
          </a:solidFill>
        </p:spPr>
        <p:txBody>
          <a:bodyPr vert="horz" lIns="91440" tIns="45720" rIns="91440" bIns="45720" rtlCol="0">
            <a:no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solidFill>
                  <a:schemeClr val="bg1"/>
                </a:solidFill>
              </a:rPr>
              <a:t>Equation</a:t>
            </a:r>
          </a:p>
        </p:txBody>
      </p:sp>
      <p:sp>
        <p:nvSpPr>
          <p:cNvPr id="16" name="Content Placeholder 6">
            <a:extLst>
              <a:ext uri="{FF2B5EF4-FFF2-40B4-BE49-F238E27FC236}">
                <a16:creationId xmlns:a16="http://schemas.microsoft.com/office/drawing/2014/main" id="{69918157-1C84-4209-2BDE-B3D610C74858}"/>
              </a:ext>
            </a:extLst>
          </p:cNvPr>
          <p:cNvSpPr txBox="1">
            <a:spLocks/>
          </p:cNvSpPr>
          <p:nvPr/>
        </p:nvSpPr>
        <p:spPr>
          <a:xfrm>
            <a:off x="13142258" y="3209366"/>
            <a:ext cx="10327342" cy="726540"/>
          </a:xfrm>
          <a:prstGeom prst="rect">
            <a:avLst/>
          </a:prstGeom>
          <a:solidFill>
            <a:srgbClr val="215F9A"/>
          </a:solidFill>
        </p:spPr>
        <p:txBody>
          <a:bodyPr vert="horz" lIns="91440" tIns="45720" rIns="91440" bIns="45720" rtlCol="0">
            <a:no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solidFill>
                  <a:schemeClr val="bg1"/>
                </a:solidFill>
              </a:rPr>
              <a:t>Use for Different Window Sizes</a:t>
            </a:r>
          </a:p>
        </p:txBody>
      </p:sp>
    </p:spTree>
    <p:extLst>
      <p:ext uri="{BB962C8B-B14F-4D97-AF65-F5344CB8AC3E}">
        <p14:creationId xmlns:p14="http://schemas.microsoft.com/office/powerpoint/2010/main" val="22040400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BDEBB-B60C-BDD1-A02C-E9AB0D6027C4}"/>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601FE895-3B58-5A20-80F8-829A34FDDACB}"/>
              </a:ext>
            </a:extLst>
          </p:cNvPr>
          <p:cNvSpPr>
            <a:spLocks noGrp="1"/>
          </p:cNvSpPr>
          <p:nvPr>
            <p:ph type="sldNum" sz="quarter" idx="14"/>
          </p:nvPr>
        </p:nvSpPr>
        <p:spPr/>
        <p:txBody>
          <a:bodyPr/>
          <a:lstStyle/>
          <a:p>
            <a:fld id="{86CB4B4D-7CA3-9044-876B-883B54F8677D}" type="slidenum">
              <a:rPr lang="en-US" smtClean="0"/>
              <a:pPr/>
              <a:t>8</a:t>
            </a:fld>
            <a:endParaRPr lang="en-US"/>
          </a:p>
        </p:txBody>
      </p:sp>
      <p:sp>
        <p:nvSpPr>
          <p:cNvPr id="10" name="Title 1">
            <a:extLst>
              <a:ext uri="{FF2B5EF4-FFF2-40B4-BE49-F238E27FC236}">
                <a16:creationId xmlns:a16="http://schemas.microsoft.com/office/drawing/2014/main" id="{264E0DDD-F8A3-F33E-9E9E-7836455D240F}"/>
              </a:ext>
            </a:extLst>
          </p:cNvPr>
          <p:cNvSpPr>
            <a:spLocks noGrp="1"/>
          </p:cNvSpPr>
          <p:nvPr>
            <p:ph type="title"/>
          </p:nvPr>
        </p:nvSpPr>
        <p:spPr>
          <a:xfrm>
            <a:off x="914399" y="1143000"/>
            <a:ext cx="21031201" cy="1371600"/>
          </a:xfrm>
        </p:spPr>
        <p:txBody>
          <a:bodyPr/>
          <a:lstStyle/>
          <a:p>
            <a:r>
              <a:rPr lang="en-US"/>
              <a:t>Trend Direction and Price Action</a:t>
            </a:r>
          </a:p>
        </p:txBody>
      </p:sp>
      <p:sp>
        <p:nvSpPr>
          <p:cNvPr id="11" name="Text Placeholder 3">
            <a:extLst>
              <a:ext uri="{FF2B5EF4-FFF2-40B4-BE49-F238E27FC236}">
                <a16:creationId xmlns:a16="http://schemas.microsoft.com/office/drawing/2014/main" id="{4803172D-03D6-8493-1003-53C310A29128}"/>
              </a:ext>
            </a:extLst>
          </p:cNvPr>
          <p:cNvSpPr>
            <a:spLocks noGrp="1"/>
          </p:cNvSpPr>
          <p:nvPr>
            <p:ph type="body" sz="quarter" idx="13"/>
          </p:nvPr>
        </p:nvSpPr>
        <p:spPr>
          <a:xfrm>
            <a:off x="914399" y="685799"/>
            <a:ext cx="6741459" cy="457200"/>
          </a:xfrm>
        </p:spPr>
        <p:txBody>
          <a:bodyPr/>
          <a:lstStyle/>
          <a:p>
            <a:r>
              <a:rPr lang="en-US"/>
              <a:t>Visualizing SMA Crossovers</a:t>
            </a:r>
            <a:endParaRPr lang="en-US">
              <a:solidFill>
                <a:schemeClr val="tx2">
                  <a:lumMod val="75000"/>
                  <a:lumOff val="25000"/>
                </a:schemeClr>
              </a:solidFill>
            </a:endParaRPr>
          </a:p>
        </p:txBody>
      </p:sp>
      <p:sp>
        <p:nvSpPr>
          <p:cNvPr id="9" name="Content Placeholder 8">
            <a:extLst>
              <a:ext uri="{FF2B5EF4-FFF2-40B4-BE49-F238E27FC236}">
                <a16:creationId xmlns:a16="http://schemas.microsoft.com/office/drawing/2014/main" id="{801B86E9-A66C-8B12-D9FF-0F8E6831EB64}"/>
              </a:ext>
            </a:extLst>
          </p:cNvPr>
          <p:cNvSpPr>
            <a:spLocks noGrp="1"/>
          </p:cNvSpPr>
          <p:nvPr>
            <p:ph sz="half" idx="1"/>
          </p:nvPr>
        </p:nvSpPr>
        <p:spPr/>
        <p:txBody>
          <a:bodyPr/>
          <a:lstStyle/>
          <a:p>
            <a:endParaRPr lang="en-US"/>
          </a:p>
          <a:p>
            <a:pPr marL="0" indent="0" algn="ctr">
              <a:buNone/>
            </a:pPr>
            <a:r>
              <a:rPr lang="en-US"/>
              <a:t>The crossovers between the 50- day SMA and the 200- Day SMA can signal major trend reversal</a:t>
            </a:r>
          </a:p>
          <a:p>
            <a:pPr marL="0" indent="0">
              <a:buNone/>
            </a:pPr>
            <a:r>
              <a:rPr lang="en-US"/>
              <a:t>Bullish Signal (Golden Cross)</a:t>
            </a:r>
          </a:p>
          <a:p>
            <a:pPr lvl="1">
              <a:buFont typeface="Wingdings" pitchFamily="2" charset="2"/>
              <a:buChar char="§"/>
            </a:pPr>
            <a:r>
              <a:rPr lang="en-US"/>
              <a:t>Happens when the 50-day SMA crosses above the 200-day SMA</a:t>
            </a:r>
          </a:p>
          <a:p>
            <a:pPr lvl="1">
              <a:buFont typeface="Wingdings" pitchFamily="2" charset="2"/>
              <a:buChar char="§"/>
            </a:pPr>
            <a:r>
              <a:rPr lang="en-US"/>
              <a:t>Suggests that short-term momentum is picking up</a:t>
            </a:r>
          </a:p>
          <a:p>
            <a:pPr lvl="1">
              <a:buFont typeface="Wingdings" pitchFamily="2" charset="2"/>
              <a:buChar char="§"/>
            </a:pPr>
            <a:r>
              <a:rPr lang="en-US"/>
              <a:t>Often seen as the start of a long-term uptrend</a:t>
            </a:r>
          </a:p>
          <a:p>
            <a:pPr lvl="1">
              <a:buFont typeface="Wingdings" pitchFamily="2" charset="2"/>
              <a:buChar char="§"/>
            </a:pPr>
            <a:r>
              <a:rPr lang="en-US"/>
              <a:t>Traders may enter long positions</a:t>
            </a:r>
          </a:p>
          <a:p>
            <a:pPr marL="0" indent="0">
              <a:buNone/>
            </a:pPr>
            <a:r>
              <a:rPr lang="en-US"/>
              <a:t>Bearish Signal (Death Cross)</a:t>
            </a:r>
          </a:p>
          <a:p>
            <a:pPr lvl="1">
              <a:buFont typeface="Wingdings" pitchFamily="2" charset="2"/>
              <a:buChar char="§"/>
            </a:pPr>
            <a:r>
              <a:rPr lang="en-US"/>
              <a:t>Happens when the 50-day SMA crosses below the 200-day SMA</a:t>
            </a:r>
          </a:p>
          <a:p>
            <a:pPr lvl="1">
              <a:buFont typeface="Wingdings" pitchFamily="2" charset="2"/>
              <a:buChar char="§"/>
            </a:pPr>
            <a:r>
              <a:rPr lang="en-US"/>
              <a:t>Suggests a potential long-term downtrend</a:t>
            </a:r>
          </a:p>
          <a:p>
            <a:pPr lvl="1">
              <a:buFont typeface="Wingdings" pitchFamily="2" charset="2"/>
              <a:buChar char="§"/>
            </a:pPr>
            <a:r>
              <a:rPr lang="en-US"/>
              <a:t>Often triggers short positions</a:t>
            </a:r>
          </a:p>
        </p:txBody>
      </p:sp>
      <p:sp>
        <p:nvSpPr>
          <p:cNvPr id="13" name="Content Placeholder 6">
            <a:extLst>
              <a:ext uri="{FF2B5EF4-FFF2-40B4-BE49-F238E27FC236}">
                <a16:creationId xmlns:a16="http://schemas.microsoft.com/office/drawing/2014/main" id="{99330ABB-140C-3F07-42C5-80E11DCB681C}"/>
              </a:ext>
            </a:extLst>
          </p:cNvPr>
          <p:cNvSpPr txBox="1">
            <a:spLocks/>
          </p:cNvSpPr>
          <p:nvPr/>
        </p:nvSpPr>
        <p:spPr>
          <a:xfrm>
            <a:off x="914399" y="3209366"/>
            <a:ext cx="10327342" cy="726540"/>
          </a:xfrm>
          <a:prstGeom prst="rect">
            <a:avLst/>
          </a:prstGeom>
          <a:solidFill>
            <a:srgbClr val="215F9A"/>
          </a:solidFill>
        </p:spPr>
        <p:txBody>
          <a:bodyPr vert="horz" lIns="91440" tIns="45720" rIns="91440" bIns="45720" rtlCol="0">
            <a:no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solidFill>
                  <a:schemeClr val="bg1"/>
                </a:solidFill>
              </a:rPr>
              <a:t>Trend Direction</a:t>
            </a:r>
          </a:p>
        </p:txBody>
      </p:sp>
      <p:pic>
        <p:nvPicPr>
          <p:cNvPr id="14" name="Picture 13">
            <a:extLst>
              <a:ext uri="{FF2B5EF4-FFF2-40B4-BE49-F238E27FC236}">
                <a16:creationId xmlns:a16="http://schemas.microsoft.com/office/drawing/2014/main" id="{15FC0D89-EC25-B0AC-F2E2-9239FECE5DDE}"/>
              </a:ext>
            </a:extLst>
          </p:cNvPr>
          <p:cNvPicPr>
            <a:picLocks noChangeAspect="1"/>
          </p:cNvPicPr>
          <p:nvPr/>
        </p:nvPicPr>
        <p:blipFill>
          <a:blip r:embed="rId2"/>
          <a:srcRect l="3088" t="4309" r="10261" b="7700"/>
          <a:stretch/>
        </p:blipFill>
        <p:spPr>
          <a:xfrm>
            <a:off x="12501480" y="3209365"/>
            <a:ext cx="9769642" cy="5221705"/>
          </a:xfrm>
          <a:prstGeom prst="rect">
            <a:avLst/>
          </a:prstGeom>
        </p:spPr>
      </p:pic>
      <p:pic>
        <p:nvPicPr>
          <p:cNvPr id="17" name="Picture 16">
            <a:extLst>
              <a:ext uri="{FF2B5EF4-FFF2-40B4-BE49-F238E27FC236}">
                <a16:creationId xmlns:a16="http://schemas.microsoft.com/office/drawing/2014/main" id="{4E0B3DC0-4660-AF83-A302-8C47A5B42C9C}"/>
              </a:ext>
            </a:extLst>
          </p:cNvPr>
          <p:cNvPicPr>
            <a:picLocks noChangeAspect="1"/>
          </p:cNvPicPr>
          <p:nvPr/>
        </p:nvPicPr>
        <p:blipFill>
          <a:blip r:embed="rId3"/>
          <a:srcRect t="12621" r="8433" b="20034"/>
          <a:stretch/>
        </p:blipFill>
        <p:spPr>
          <a:xfrm>
            <a:off x="12501480" y="7782852"/>
            <a:ext cx="9769642" cy="4573486"/>
          </a:xfrm>
          <a:prstGeom prst="rect">
            <a:avLst/>
          </a:prstGeom>
        </p:spPr>
      </p:pic>
      <p:sp>
        <p:nvSpPr>
          <p:cNvPr id="18" name="Content Placeholder 8">
            <a:extLst>
              <a:ext uri="{FF2B5EF4-FFF2-40B4-BE49-F238E27FC236}">
                <a16:creationId xmlns:a16="http://schemas.microsoft.com/office/drawing/2014/main" id="{A93DF051-88BC-77E4-060E-704927F3F176}"/>
              </a:ext>
            </a:extLst>
          </p:cNvPr>
          <p:cNvSpPr txBox="1">
            <a:spLocks/>
          </p:cNvSpPr>
          <p:nvPr/>
        </p:nvSpPr>
        <p:spPr>
          <a:xfrm>
            <a:off x="12484100" y="3209365"/>
            <a:ext cx="10327342" cy="9146972"/>
          </a:xfrm>
          <a:prstGeom prst="rect">
            <a:avLst/>
          </a:prstGeom>
          <a:ln w="127000">
            <a:solidFill>
              <a:srgbClr val="215F9A"/>
            </a:solidFill>
          </a:ln>
        </p:spPr>
        <p:txBody>
          <a:bodyPr vert="horz" lIns="91440" tIns="45720" rIns="91440" bIns="45720" rtlCol="0">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a:p>
        </p:txBody>
      </p:sp>
      <p:sp>
        <p:nvSpPr>
          <p:cNvPr id="19" name="Content Placeholder 6">
            <a:extLst>
              <a:ext uri="{FF2B5EF4-FFF2-40B4-BE49-F238E27FC236}">
                <a16:creationId xmlns:a16="http://schemas.microsoft.com/office/drawing/2014/main" id="{C8E59FC9-85CA-9073-EE24-000917705DFE}"/>
              </a:ext>
            </a:extLst>
          </p:cNvPr>
          <p:cNvSpPr txBox="1">
            <a:spLocks/>
          </p:cNvSpPr>
          <p:nvPr/>
        </p:nvSpPr>
        <p:spPr>
          <a:xfrm>
            <a:off x="12484100" y="7782851"/>
            <a:ext cx="10327342" cy="188723"/>
          </a:xfrm>
          <a:prstGeom prst="rect">
            <a:avLst/>
          </a:prstGeom>
          <a:solidFill>
            <a:srgbClr val="215F9A"/>
          </a:solidFill>
        </p:spPr>
        <p:txBody>
          <a:bodyPr vert="horz" lIns="91440" tIns="45720" rIns="91440" bIns="45720" rtlCol="0">
            <a:no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a:solidFill>
                <a:schemeClr val="bg1"/>
              </a:solidFill>
            </a:endParaRPr>
          </a:p>
        </p:txBody>
      </p:sp>
    </p:spTree>
    <p:extLst>
      <p:ext uri="{BB962C8B-B14F-4D97-AF65-F5344CB8AC3E}">
        <p14:creationId xmlns:p14="http://schemas.microsoft.com/office/powerpoint/2010/main" val="28453063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5B193-DCAF-B5F5-E733-A8A7A664B717}"/>
            </a:ext>
          </a:extLst>
        </p:cNvPr>
        <p:cNvGrpSpPr/>
        <p:nvPr/>
      </p:nvGrpSpPr>
      <p:grpSpPr>
        <a:xfrm>
          <a:off x="0" y="0"/>
          <a:ext cx="0" cy="0"/>
          <a:chOff x="0" y="0"/>
          <a:chExt cx="0" cy="0"/>
        </a:xfrm>
      </p:grpSpPr>
      <p:sp>
        <p:nvSpPr>
          <p:cNvPr id="8" name="Content Placeholder 7">
            <a:extLst>
              <a:ext uri="{FF2B5EF4-FFF2-40B4-BE49-F238E27FC236}">
                <a16:creationId xmlns:a16="http://schemas.microsoft.com/office/drawing/2014/main" id="{0F4C12AB-833A-CBE5-DCBF-5397CF0A29A6}"/>
              </a:ext>
            </a:extLst>
          </p:cNvPr>
          <p:cNvSpPr>
            <a:spLocks noGrp="1"/>
          </p:cNvSpPr>
          <p:nvPr>
            <p:ph sz="half" idx="2"/>
          </p:nvPr>
        </p:nvSpPr>
        <p:spPr>
          <a:xfrm>
            <a:off x="11349316" y="2996454"/>
            <a:ext cx="12120284" cy="9359883"/>
          </a:xfrm>
        </p:spPr>
        <p:txBody>
          <a:bodyPr vert="horz" lIns="91440" tIns="45720" rIns="91440" bIns="45720" rtlCol="0" anchor="t">
            <a:normAutofit lnSpcReduction="10000"/>
          </a:bodyPr>
          <a:lstStyle/>
          <a:p>
            <a:r>
              <a:rPr lang="en-US">
                <a:latin typeface="Inter"/>
                <a:cs typeface="Poppins"/>
              </a:rPr>
              <a:t>We download NVDA price data from Yahoo Finance (</a:t>
            </a:r>
            <a:r>
              <a:rPr lang="en-US" err="1">
                <a:latin typeface="Consolas"/>
                <a:cs typeface="Poppins"/>
              </a:rPr>
              <a:t>yf.download</a:t>
            </a:r>
            <a:r>
              <a:rPr lang="en-US">
                <a:latin typeface="Consolas"/>
                <a:cs typeface="Poppins"/>
              </a:rPr>
              <a:t>()</a:t>
            </a:r>
            <a:r>
              <a:rPr lang="en-US">
                <a:latin typeface="Inter"/>
                <a:cs typeface="Poppins"/>
              </a:rPr>
              <a:t>), focusing on the 'Close' price.</a:t>
            </a:r>
          </a:p>
          <a:p>
            <a:r>
              <a:rPr lang="en-US">
                <a:latin typeface="Inter"/>
                <a:cs typeface="Poppins"/>
              </a:rPr>
              <a:t>We compute 50-day and 200-day Simple Moving Averages (SMA) using </a:t>
            </a:r>
            <a:r>
              <a:rPr lang="en-US">
                <a:latin typeface="Consolas"/>
                <a:cs typeface="Poppins"/>
              </a:rPr>
              <a:t>.rolling().mean()</a:t>
            </a:r>
            <a:r>
              <a:rPr lang="en-US">
                <a:latin typeface="Inter"/>
                <a:cs typeface="Poppins"/>
              </a:rPr>
              <a:t>.</a:t>
            </a:r>
            <a:endParaRPr lang="en-US"/>
          </a:p>
          <a:p>
            <a:r>
              <a:rPr lang="en-US">
                <a:latin typeface="Inter"/>
                <a:cs typeface="Poppins"/>
              </a:rPr>
              <a:t>We create a new column </a:t>
            </a:r>
            <a:r>
              <a:rPr lang="en-US">
                <a:latin typeface="Consolas"/>
                <a:cs typeface="Poppins"/>
              </a:rPr>
              <a:t>Signal</a:t>
            </a:r>
            <a:r>
              <a:rPr lang="en-US">
                <a:latin typeface="Inter"/>
                <a:cs typeface="Poppins"/>
              </a:rPr>
              <a:t>:</a:t>
            </a:r>
            <a:endParaRPr lang="en-US"/>
          </a:p>
          <a:p>
            <a:r>
              <a:rPr lang="en-US">
                <a:latin typeface="Inter"/>
                <a:cs typeface="Poppins"/>
              </a:rPr>
              <a:t>Set to </a:t>
            </a:r>
            <a:r>
              <a:rPr lang="en-US">
                <a:latin typeface="Consolas"/>
                <a:cs typeface="Poppins"/>
              </a:rPr>
              <a:t>1</a:t>
            </a:r>
            <a:r>
              <a:rPr lang="en-US">
                <a:latin typeface="Inter"/>
                <a:cs typeface="Poppins"/>
              </a:rPr>
              <a:t> when SMA_50 &gt; SMA_200 (bullish trend → we want to be in the market),</a:t>
            </a:r>
            <a:endParaRPr lang="en-US"/>
          </a:p>
          <a:p>
            <a:r>
              <a:rPr lang="en-US">
                <a:latin typeface="Inter"/>
                <a:cs typeface="Poppins"/>
              </a:rPr>
              <a:t>Otherwise, set to </a:t>
            </a:r>
            <a:r>
              <a:rPr lang="en-US">
                <a:latin typeface="Consolas"/>
                <a:cs typeface="Poppins"/>
              </a:rPr>
              <a:t>0</a:t>
            </a:r>
            <a:r>
              <a:rPr lang="en-US">
                <a:latin typeface="Inter"/>
                <a:cs typeface="Poppins"/>
              </a:rPr>
              <a:t> (bearish trend → we stay out).</a:t>
            </a:r>
            <a:endParaRPr lang="en-US"/>
          </a:p>
          <a:p>
            <a:r>
              <a:rPr lang="en-US">
                <a:latin typeface="Inter"/>
                <a:cs typeface="Poppins"/>
              </a:rPr>
              <a:t>The </a:t>
            </a:r>
            <a:r>
              <a:rPr lang="en-US">
                <a:latin typeface="Consolas"/>
                <a:cs typeface="Poppins"/>
              </a:rPr>
              <a:t>Position</a:t>
            </a:r>
            <a:r>
              <a:rPr lang="en-US">
                <a:latin typeface="Inter"/>
                <a:cs typeface="Poppins"/>
              </a:rPr>
              <a:t> column is the </a:t>
            </a:r>
            <a:r>
              <a:rPr lang="en-US" b="1">
                <a:latin typeface="Inter"/>
                <a:cs typeface="Poppins"/>
              </a:rPr>
              <a:t>difference</a:t>
            </a:r>
            <a:r>
              <a:rPr lang="en-US">
                <a:latin typeface="Inter"/>
                <a:cs typeface="Poppins"/>
              </a:rPr>
              <a:t> between current and previous signal:</a:t>
            </a:r>
            <a:endParaRPr lang="en-US"/>
          </a:p>
          <a:p>
            <a:r>
              <a:rPr lang="en-US">
                <a:latin typeface="Consolas"/>
                <a:cs typeface="Poppins"/>
              </a:rPr>
              <a:t>1</a:t>
            </a:r>
            <a:r>
              <a:rPr lang="en-US">
                <a:latin typeface="Inter"/>
                <a:cs typeface="Poppins"/>
              </a:rPr>
              <a:t> means we just bought (0 → 1),</a:t>
            </a:r>
            <a:endParaRPr lang="en-US"/>
          </a:p>
          <a:p>
            <a:r>
              <a:rPr lang="en-US">
                <a:latin typeface="Consolas"/>
                <a:cs typeface="Poppins"/>
              </a:rPr>
              <a:t>-1</a:t>
            </a:r>
            <a:r>
              <a:rPr lang="en-US">
                <a:latin typeface="Inter"/>
                <a:cs typeface="Poppins"/>
              </a:rPr>
              <a:t> means we just sold (1 → 0).</a:t>
            </a:r>
            <a:endParaRPr lang="en-US"/>
          </a:p>
          <a:p>
            <a:r>
              <a:rPr lang="en-US">
                <a:latin typeface="Inter"/>
                <a:cs typeface="Poppins"/>
              </a:rPr>
              <a:t>We then plot the signals on a price chart using green </a:t>
            </a:r>
            <a:r>
              <a:rPr lang="en-US">
                <a:latin typeface="Consolas"/>
                <a:cs typeface="Poppins"/>
              </a:rPr>
              <a:t>^</a:t>
            </a:r>
            <a:r>
              <a:rPr lang="en-US">
                <a:latin typeface="Inter"/>
                <a:cs typeface="Poppins"/>
              </a:rPr>
              <a:t> for buys and red </a:t>
            </a:r>
            <a:r>
              <a:rPr lang="en-US">
                <a:latin typeface="Consolas"/>
                <a:cs typeface="Poppins"/>
              </a:rPr>
              <a:t>v</a:t>
            </a:r>
            <a:r>
              <a:rPr lang="en-US">
                <a:latin typeface="Inter"/>
                <a:cs typeface="Poppins"/>
              </a:rPr>
              <a:t> for sells.</a:t>
            </a:r>
            <a:endParaRPr lang="en-US"/>
          </a:p>
          <a:p>
            <a:endParaRPr lang="en-US"/>
          </a:p>
        </p:txBody>
      </p:sp>
      <p:sp>
        <p:nvSpPr>
          <p:cNvPr id="5" name="Slide Number Placeholder 4">
            <a:extLst>
              <a:ext uri="{FF2B5EF4-FFF2-40B4-BE49-F238E27FC236}">
                <a16:creationId xmlns:a16="http://schemas.microsoft.com/office/drawing/2014/main" id="{33F7E601-5F98-99DD-F15E-467829A338D0}"/>
              </a:ext>
            </a:extLst>
          </p:cNvPr>
          <p:cNvSpPr>
            <a:spLocks noGrp="1"/>
          </p:cNvSpPr>
          <p:nvPr>
            <p:ph type="sldNum" sz="quarter" idx="14"/>
          </p:nvPr>
        </p:nvSpPr>
        <p:spPr/>
        <p:txBody>
          <a:bodyPr/>
          <a:lstStyle/>
          <a:p>
            <a:fld id="{86CB4B4D-7CA3-9044-876B-883B54F8677D}" type="slidenum">
              <a:rPr lang="en-US" smtClean="0"/>
              <a:pPr/>
              <a:t>9</a:t>
            </a:fld>
            <a:endParaRPr lang="en-US"/>
          </a:p>
        </p:txBody>
      </p:sp>
      <p:sp>
        <p:nvSpPr>
          <p:cNvPr id="10" name="Title 1">
            <a:extLst>
              <a:ext uri="{FF2B5EF4-FFF2-40B4-BE49-F238E27FC236}">
                <a16:creationId xmlns:a16="http://schemas.microsoft.com/office/drawing/2014/main" id="{F2A7D253-FB93-E073-BF52-63ABD3EC825C}"/>
              </a:ext>
            </a:extLst>
          </p:cNvPr>
          <p:cNvSpPr>
            <a:spLocks noGrp="1"/>
          </p:cNvSpPr>
          <p:nvPr>
            <p:ph type="title"/>
          </p:nvPr>
        </p:nvSpPr>
        <p:spPr>
          <a:xfrm>
            <a:off x="914399" y="1143000"/>
            <a:ext cx="21031201" cy="1371600"/>
          </a:xfrm>
        </p:spPr>
        <p:txBody>
          <a:bodyPr/>
          <a:lstStyle/>
          <a:p>
            <a:r>
              <a:rPr lang="en-US"/>
              <a:t>SMA Crossover Model (n=50,200)</a:t>
            </a:r>
          </a:p>
        </p:txBody>
      </p:sp>
      <p:sp>
        <p:nvSpPr>
          <p:cNvPr id="11" name="Text Placeholder 3">
            <a:extLst>
              <a:ext uri="{FF2B5EF4-FFF2-40B4-BE49-F238E27FC236}">
                <a16:creationId xmlns:a16="http://schemas.microsoft.com/office/drawing/2014/main" id="{AB16000E-C935-A644-1AC2-5FB753481018}"/>
              </a:ext>
            </a:extLst>
          </p:cNvPr>
          <p:cNvSpPr>
            <a:spLocks noGrp="1"/>
          </p:cNvSpPr>
          <p:nvPr>
            <p:ph type="body" sz="quarter" idx="13"/>
          </p:nvPr>
        </p:nvSpPr>
        <p:spPr>
          <a:xfrm>
            <a:off x="914399" y="685799"/>
            <a:ext cx="6741459" cy="457200"/>
          </a:xfrm>
        </p:spPr>
        <p:txBody>
          <a:bodyPr/>
          <a:lstStyle/>
          <a:p>
            <a:r>
              <a:rPr lang="en-US"/>
              <a:t>Visualizing SMA Crossovers</a:t>
            </a:r>
            <a:endParaRPr lang="en-US">
              <a:solidFill>
                <a:schemeClr val="tx2">
                  <a:lumMod val="75000"/>
                  <a:lumOff val="25000"/>
                </a:schemeClr>
              </a:solidFill>
            </a:endParaRPr>
          </a:p>
        </p:txBody>
      </p:sp>
      <p:pic>
        <p:nvPicPr>
          <p:cNvPr id="2" name="Picture 1" descr="A screen shot of a computer program&#10;&#10;AI-generated content may be incorrect.">
            <a:extLst>
              <a:ext uri="{FF2B5EF4-FFF2-40B4-BE49-F238E27FC236}">
                <a16:creationId xmlns:a16="http://schemas.microsoft.com/office/drawing/2014/main" id="{770C59F3-67C9-8D9D-8FAE-D1A7FA9A92AF}"/>
              </a:ext>
            </a:extLst>
          </p:cNvPr>
          <p:cNvPicPr>
            <a:picLocks noChangeAspect="1"/>
          </p:cNvPicPr>
          <p:nvPr/>
        </p:nvPicPr>
        <p:blipFill>
          <a:blip r:embed="rId2"/>
          <a:stretch>
            <a:fillRect/>
          </a:stretch>
        </p:blipFill>
        <p:spPr>
          <a:xfrm>
            <a:off x="1225297" y="2781698"/>
            <a:ext cx="8471287" cy="9590621"/>
          </a:xfrm>
          <a:prstGeom prst="rect">
            <a:avLst/>
          </a:prstGeom>
        </p:spPr>
      </p:pic>
    </p:spTree>
    <p:extLst>
      <p:ext uri="{BB962C8B-B14F-4D97-AF65-F5344CB8AC3E}">
        <p14:creationId xmlns:p14="http://schemas.microsoft.com/office/powerpoint/2010/main" val="19927432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77593-AF36-E747-27E1-619FDCEB69EA}"/>
            </a:ext>
          </a:extLst>
        </p:cNvPr>
        <p:cNvGrpSpPr/>
        <p:nvPr/>
      </p:nvGrpSpPr>
      <p:grpSpPr>
        <a:xfrm>
          <a:off x="0" y="0"/>
          <a:ext cx="0" cy="0"/>
          <a:chOff x="0" y="0"/>
          <a:chExt cx="0" cy="0"/>
        </a:xfrm>
      </p:grpSpPr>
      <p:sp>
        <p:nvSpPr>
          <p:cNvPr id="8" name="Content Placeholder 7">
            <a:extLst>
              <a:ext uri="{FF2B5EF4-FFF2-40B4-BE49-F238E27FC236}">
                <a16:creationId xmlns:a16="http://schemas.microsoft.com/office/drawing/2014/main" id="{8E65FAEA-D789-7379-5DA0-6C4EED7977EC}"/>
              </a:ext>
            </a:extLst>
          </p:cNvPr>
          <p:cNvSpPr>
            <a:spLocks noGrp="1"/>
          </p:cNvSpPr>
          <p:nvPr>
            <p:ph sz="half" idx="2"/>
          </p:nvPr>
        </p:nvSpPr>
        <p:spPr/>
        <p:txBody>
          <a:bodyPr/>
          <a:lstStyle/>
          <a:p>
            <a:r>
              <a:rPr lang="en-US"/>
              <a:t>- </a:t>
            </a:r>
          </a:p>
        </p:txBody>
      </p:sp>
      <p:sp>
        <p:nvSpPr>
          <p:cNvPr id="5" name="Slide Number Placeholder 4">
            <a:extLst>
              <a:ext uri="{FF2B5EF4-FFF2-40B4-BE49-F238E27FC236}">
                <a16:creationId xmlns:a16="http://schemas.microsoft.com/office/drawing/2014/main" id="{AF5E18F4-05C3-4392-F220-6899EF408D7C}"/>
              </a:ext>
            </a:extLst>
          </p:cNvPr>
          <p:cNvSpPr>
            <a:spLocks noGrp="1"/>
          </p:cNvSpPr>
          <p:nvPr>
            <p:ph type="sldNum" sz="quarter" idx="14"/>
          </p:nvPr>
        </p:nvSpPr>
        <p:spPr/>
        <p:txBody>
          <a:bodyPr/>
          <a:lstStyle/>
          <a:p>
            <a:fld id="{86CB4B4D-7CA3-9044-876B-883B54F8677D}" type="slidenum">
              <a:rPr lang="en-US" smtClean="0"/>
              <a:pPr/>
              <a:t>10</a:t>
            </a:fld>
            <a:endParaRPr lang="en-US"/>
          </a:p>
        </p:txBody>
      </p:sp>
      <p:sp>
        <p:nvSpPr>
          <p:cNvPr id="10" name="Title 1">
            <a:extLst>
              <a:ext uri="{FF2B5EF4-FFF2-40B4-BE49-F238E27FC236}">
                <a16:creationId xmlns:a16="http://schemas.microsoft.com/office/drawing/2014/main" id="{1F710A40-4B64-10E4-7D66-8E4AE74C21C8}"/>
              </a:ext>
            </a:extLst>
          </p:cNvPr>
          <p:cNvSpPr>
            <a:spLocks noGrp="1"/>
          </p:cNvSpPr>
          <p:nvPr>
            <p:ph type="title"/>
          </p:nvPr>
        </p:nvSpPr>
        <p:spPr>
          <a:xfrm>
            <a:off x="914399" y="1143000"/>
            <a:ext cx="21031201" cy="1371600"/>
          </a:xfrm>
        </p:spPr>
        <p:txBody>
          <a:bodyPr/>
          <a:lstStyle/>
          <a:p>
            <a:r>
              <a:rPr lang="en-US"/>
              <a:t>SMA Crossover Results NVDA</a:t>
            </a:r>
          </a:p>
        </p:txBody>
      </p:sp>
      <p:sp>
        <p:nvSpPr>
          <p:cNvPr id="11" name="Text Placeholder 3">
            <a:extLst>
              <a:ext uri="{FF2B5EF4-FFF2-40B4-BE49-F238E27FC236}">
                <a16:creationId xmlns:a16="http://schemas.microsoft.com/office/drawing/2014/main" id="{AF3F9AD8-3F48-6849-C44E-F20B1DB31D69}"/>
              </a:ext>
            </a:extLst>
          </p:cNvPr>
          <p:cNvSpPr>
            <a:spLocks noGrp="1"/>
          </p:cNvSpPr>
          <p:nvPr>
            <p:ph type="body" sz="quarter" idx="13"/>
          </p:nvPr>
        </p:nvSpPr>
        <p:spPr>
          <a:xfrm>
            <a:off x="914399" y="685799"/>
            <a:ext cx="6741459" cy="457200"/>
          </a:xfrm>
        </p:spPr>
        <p:txBody>
          <a:bodyPr/>
          <a:lstStyle/>
          <a:p>
            <a:r>
              <a:rPr lang="en-US"/>
              <a:t>Visualizing SMA Crossovers</a:t>
            </a:r>
            <a:endParaRPr lang="en-US">
              <a:solidFill>
                <a:schemeClr val="tx2">
                  <a:lumMod val="75000"/>
                  <a:lumOff val="25000"/>
                </a:schemeClr>
              </a:solidFill>
            </a:endParaRPr>
          </a:p>
        </p:txBody>
      </p:sp>
      <p:sp>
        <p:nvSpPr>
          <p:cNvPr id="9" name="Content Placeholder 8">
            <a:extLst>
              <a:ext uri="{FF2B5EF4-FFF2-40B4-BE49-F238E27FC236}">
                <a16:creationId xmlns:a16="http://schemas.microsoft.com/office/drawing/2014/main" id="{47814D9D-7728-93F7-EA88-A5857A8B7E43}"/>
              </a:ext>
            </a:extLst>
          </p:cNvPr>
          <p:cNvSpPr>
            <a:spLocks noGrp="1"/>
          </p:cNvSpPr>
          <p:nvPr>
            <p:ph sz="half" idx="1"/>
          </p:nvPr>
        </p:nvSpPr>
        <p:spPr/>
        <p:txBody>
          <a:bodyPr/>
          <a:lstStyle/>
          <a:p>
            <a:r>
              <a:rPr lang="en-US"/>
              <a:t>- </a:t>
            </a:r>
          </a:p>
        </p:txBody>
      </p:sp>
      <p:pic>
        <p:nvPicPr>
          <p:cNvPr id="4" name="Picture 3" descr="A graph with lines and numbers&#10;&#10;AI-generated content may be incorrect.">
            <a:extLst>
              <a:ext uri="{FF2B5EF4-FFF2-40B4-BE49-F238E27FC236}">
                <a16:creationId xmlns:a16="http://schemas.microsoft.com/office/drawing/2014/main" id="{A377D5F0-7117-7E84-BF4C-348A0C2EC4CD}"/>
              </a:ext>
            </a:extLst>
          </p:cNvPr>
          <p:cNvPicPr>
            <a:picLocks noChangeAspect="1"/>
          </p:cNvPicPr>
          <p:nvPr/>
        </p:nvPicPr>
        <p:blipFill>
          <a:blip r:embed="rId2"/>
          <a:stretch>
            <a:fillRect/>
          </a:stretch>
        </p:blipFill>
        <p:spPr>
          <a:xfrm>
            <a:off x="1147762" y="2241934"/>
            <a:ext cx="19923798" cy="10740737"/>
          </a:xfrm>
          <a:prstGeom prst="rect">
            <a:avLst/>
          </a:prstGeom>
        </p:spPr>
      </p:pic>
    </p:spTree>
    <p:extLst>
      <p:ext uri="{BB962C8B-B14F-4D97-AF65-F5344CB8AC3E}">
        <p14:creationId xmlns:p14="http://schemas.microsoft.com/office/powerpoint/2010/main" val="28542574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945B7-4E62-198C-0A2E-7E6B17B34C38}"/>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F39B534-F27A-FF94-B4AD-7878C734EDD6}"/>
              </a:ext>
            </a:extLst>
          </p:cNvPr>
          <p:cNvSpPr>
            <a:spLocks noGrp="1"/>
          </p:cNvSpPr>
          <p:nvPr>
            <p:ph type="sldNum" sz="quarter" idx="14"/>
          </p:nvPr>
        </p:nvSpPr>
        <p:spPr/>
        <p:txBody>
          <a:bodyPr/>
          <a:lstStyle/>
          <a:p>
            <a:fld id="{86CB4B4D-7CA3-9044-876B-883B54F8677D}" type="slidenum">
              <a:rPr lang="en-US" smtClean="0"/>
              <a:pPr/>
              <a:t>11</a:t>
            </a:fld>
            <a:endParaRPr lang="en-US"/>
          </a:p>
        </p:txBody>
      </p:sp>
      <p:sp>
        <p:nvSpPr>
          <p:cNvPr id="11" name="Text Placeholder 3">
            <a:extLst>
              <a:ext uri="{FF2B5EF4-FFF2-40B4-BE49-F238E27FC236}">
                <a16:creationId xmlns:a16="http://schemas.microsoft.com/office/drawing/2014/main" id="{18D5F73E-42C7-B268-E718-6CE3B6E639A5}"/>
              </a:ext>
            </a:extLst>
          </p:cNvPr>
          <p:cNvSpPr>
            <a:spLocks noGrp="1"/>
          </p:cNvSpPr>
          <p:nvPr>
            <p:ph type="body" sz="quarter" idx="13"/>
          </p:nvPr>
        </p:nvSpPr>
        <p:spPr>
          <a:xfrm>
            <a:off x="914399" y="685799"/>
            <a:ext cx="6741459" cy="457200"/>
          </a:xfrm>
        </p:spPr>
        <p:txBody>
          <a:bodyPr/>
          <a:lstStyle/>
          <a:p>
            <a:r>
              <a:rPr lang="en-US"/>
              <a:t>Visualizing SMA Crossovers</a:t>
            </a:r>
            <a:endParaRPr lang="en-US">
              <a:solidFill>
                <a:schemeClr val="tx2">
                  <a:lumMod val="75000"/>
                  <a:lumOff val="25000"/>
                </a:schemeClr>
              </a:solidFill>
            </a:endParaRPr>
          </a:p>
        </p:txBody>
      </p:sp>
      <p:sp>
        <p:nvSpPr>
          <p:cNvPr id="4" name="Title 1">
            <a:extLst>
              <a:ext uri="{FF2B5EF4-FFF2-40B4-BE49-F238E27FC236}">
                <a16:creationId xmlns:a16="http://schemas.microsoft.com/office/drawing/2014/main" id="{FB84E578-D96C-33C5-9681-4735BA03A8CB}"/>
              </a:ext>
            </a:extLst>
          </p:cNvPr>
          <p:cNvSpPr>
            <a:spLocks noGrp="1"/>
          </p:cNvSpPr>
          <p:nvPr>
            <p:ph type="title"/>
          </p:nvPr>
        </p:nvSpPr>
        <p:spPr>
          <a:xfrm>
            <a:off x="914400" y="1143000"/>
            <a:ext cx="21031200" cy="1371600"/>
          </a:xfrm>
        </p:spPr>
        <p:txBody>
          <a:bodyPr/>
          <a:lstStyle/>
          <a:p>
            <a:r>
              <a:rPr lang="en-US"/>
              <a:t>EMA – Exponential Moving Average</a:t>
            </a:r>
          </a:p>
        </p:txBody>
      </p:sp>
      <p:sp>
        <p:nvSpPr>
          <p:cNvPr id="7" name="Title 1">
            <a:extLst>
              <a:ext uri="{FF2B5EF4-FFF2-40B4-BE49-F238E27FC236}">
                <a16:creationId xmlns:a16="http://schemas.microsoft.com/office/drawing/2014/main" id="{9202CA00-70EB-EB5A-96D0-0AD7B9A306DF}"/>
              </a:ext>
            </a:extLst>
          </p:cNvPr>
          <p:cNvSpPr txBox="1">
            <a:spLocks/>
          </p:cNvSpPr>
          <p:nvPr/>
        </p:nvSpPr>
        <p:spPr>
          <a:xfrm>
            <a:off x="914399" y="1143000"/>
            <a:ext cx="21031201" cy="1371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7200" b="1" i="0" kern="1200">
                <a:solidFill>
                  <a:srgbClr val="2B3145"/>
                </a:solidFill>
                <a:latin typeface="Inter" panose="02000503000000020004" pitchFamily="2" charset="0"/>
                <a:ea typeface="Inter" panose="02000503000000020004" pitchFamily="2" charset="0"/>
                <a:cs typeface="Poppins SemiBold" pitchFamily="2" charset="77"/>
              </a:defRPr>
            </a:lvl1pPr>
          </a:lstStyle>
          <a:p>
            <a:r>
              <a:rPr lang="en-US"/>
              <a:t>EMA – Exponential Moving Average</a:t>
            </a:r>
          </a:p>
        </p:txBody>
      </p:sp>
      <p:sp>
        <p:nvSpPr>
          <p:cNvPr id="15" name="Content Placeholder 6">
            <a:extLst>
              <a:ext uri="{FF2B5EF4-FFF2-40B4-BE49-F238E27FC236}">
                <a16:creationId xmlns:a16="http://schemas.microsoft.com/office/drawing/2014/main" id="{B9EC8FBB-22AB-74A8-4191-04E487470731}"/>
              </a:ext>
            </a:extLst>
          </p:cNvPr>
          <p:cNvSpPr txBox="1">
            <a:spLocks noGrp="1"/>
          </p:cNvSpPr>
          <p:nvPr>
            <p:ph sz="half" idx="1"/>
          </p:nvPr>
        </p:nvSpPr>
        <p:spPr>
          <a:xfrm>
            <a:off x="914400" y="2998437"/>
            <a:ext cx="11277600" cy="753035"/>
          </a:xfrm>
          <a:prstGeom prst="rect">
            <a:avLst/>
          </a:prstGeom>
          <a:solidFill>
            <a:srgbClr val="215F9A"/>
          </a:solidFill>
        </p:spPr>
        <p:txBody>
          <a:bodyPr vert="horz" lIns="91440" tIns="45720" rIns="91440" bIns="45720" rtlCol="0">
            <a:no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solidFill>
                  <a:schemeClr val="bg1"/>
                </a:solidFill>
              </a:rPr>
              <a:t>What is an EMA</a:t>
            </a:r>
          </a:p>
        </p:txBody>
      </p:sp>
      <p:sp>
        <p:nvSpPr>
          <p:cNvPr id="16" name="Content Placeholder 8">
            <a:extLst>
              <a:ext uri="{FF2B5EF4-FFF2-40B4-BE49-F238E27FC236}">
                <a16:creationId xmlns:a16="http://schemas.microsoft.com/office/drawing/2014/main" id="{3D8D47FE-D980-677C-C8AB-32CC456416F2}"/>
              </a:ext>
            </a:extLst>
          </p:cNvPr>
          <p:cNvSpPr txBox="1">
            <a:spLocks/>
          </p:cNvSpPr>
          <p:nvPr/>
        </p:nvSpPr>
        <p:spPr>
          <a:xfrm>
            <a:off x="902802" y="4527209"/>
            <a:ext cx="11276222" cy="3776205"/>
          </a:xfrm>
          <a:prstGeom prst="rect">
            <a:avLst/>
          </a:prstGeom>
        </p:spPr>
        <p:txBody>
          <a:bodyPr vert="horz" lIns="91440" tIns="45720" rIns="91440" bIns="45720" rtlCol="0">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Char char="§"/>
            </a:pPr>
            <a:r>
              <a:rPr lang="en-US">
                <a:solidFill>
                  <a:schemeClr val="tx1"/>
                </a:solidFill>
              </a:rPr>
              <a:t>type of moving average that gives more weight to recent prices, making it more responsive to recent changes in the market.</a:t>
            </a:r>
          </a:p>
          <a:p>
            <a:pPr>
              <a:buFont typeface="Wingdings" pitchFamily="2" charset="2"/>
              <a:buChar char="§"/>
            </a:pPr>
            <a:r>
              <a:rPr lang="en-US">
                <a:solidFill>
                  <a:schemeClr val="tx1"/>
                </a:solidFill>
              </a:rPr>
              <a:t>More responsive to price changes</a:t>
            </a:r>
          </a:p>
          <a:p>
            <a:pPr>
              <a:buFont typeface="Wingdings" pitchFamily="2" charset="2"/>
              <a:buChar char="§"/>
            </a:pPr>
            <a:r>
              <a:rPr lang="en-US">
                <a:solidFill>
                  <a:schemeClr val="tx1"/>
                </a:solidFill>
              </a:rPr>
              <a:t>Used mostly by swing traders to identify general trend directions and spot entry/exit points using crossovers.</a:t>
            </a:r>
          </a:p>
          <a:p>
            <a:pPr>
              <a:buFont typeface="Wingdings" pitchFamily="2" charset="2"/>
              <a:buChar char="§"/>
            </a:pPr>
            <a:endParaRPr lang="en-US"/>
          </a:p>
          <a:p>
            <a:pPr algn="ctr">
              <a:buFont typeface="Wingdings" pitchFamily="2" charset="2"/>
              <a:buChar char="§"/>
            </a:pPr>
            <a:endParaRPr lang="en-US"/>
          </a:p>
        </p:txBody>
      </p:sp>
      <p:sp>
        <p:nvSpPr>
          <p:cNvPr id="17" name="Content Placeholder 6">
            <a:extLst>
              <a:ext uri="{FF2B5EF4-FFF2-40B4-BE49-F238E27FC236}">
                <a16:creationId xmlns:a16="http://schemas.microsoft.com/office/drawing/2014/main" id="{F564F337-603D-8964-86FF-E0BECE08747D}"/>
              </a:ext>
            </a:extLst>
          </p:cNvPr>
          <p:cNvSpPr txBox="1">
            <a:spLocks/>
          </p:cNvSpPr>
          <p:nvPr/>
        </p:nvSpPr>
        <p:spPr>
          <a:xfrm>
            <a:off x="12501480" y="2998437"/>
            <a:ext cx="11276222" cy="726540"/>
          </a:xfrm>
          <a:prstGeom prst="rect">
            <a:avLst/>
          </a:prstGeom>
          <a:solidFill>
            <a:srgbClr val="215F9A"/>
          </a:solidFill>
        </p:spPr>
        <p:txBody>
          <a:bodyPr vert="horz" lIns="91440" tIns="45720" rIns="91440" bIns="45720" rtlCol="0">
            <a:no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solidFill>
                  <a:schemeClr val="bg1"/>
                </a:solidFill>
              </a:rPr>
              <a:t>Equation</a:t>
            </a:r>
          </a:p>
        </p:txBody>
      </p:sp>
      <p:pic>
        <p:nvPicPr>
          <p:cNvPr id="21" name="Picture 20">
            <a:extLst>
              <a:ext uri="{FF2B5EF4-FFF2-40B4-BE49-F238E27FC236}">
                <a16:creationId xmlns:a16="http://schemas.microsoft.com/office/drawing/2014/main" id="{282BDED9-5433-161E-58FC-F45CA61E0A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00102" y="4058897"/>
            <a:ext cx="10969498" cy="2432520"/>
          </a:xfrm>
          <a:prstGeom prst="rect">
            <a:avLst/>
          </a:prstGeom>
        </p:spPr>
      </p:pic>
      <p:pic>
        <p:nvPicPr>
          <p:cNvPr id="24" name="Picture 23" descr="A black text on a white background&#10;&#10;AI-generated content may be incorrect.">
            <a:extLst>
              <a:ext uri="{FF2B5EF4-FFF2-40B4-BE49-F238E27FC236}">
                <a16:creationId xmlns:a16="http://schemas.microsoft.com/office/drawing/2014/main" id="{FCAF6CDD-E220-B3AB-D177-648CFDF9C1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15001" y="6491417"/>
            <a:ext cx="9927246" cy="2225072"/>
          </a:xfrm>
          <a:prstGeom prst="rect">
            <a:avLst/>
          </a:prstGeom>
        </p:spPr>
      </p:pic>
    </p:spTree>
    <p:extLst>
      <p:ext uri="{BB962C8B-B14F-4D97-AF65-F5344CB8AC3E}">
        <p14:creationId xmlns:p14="http://schemas.microsoft.com/office/powerpoint/2010/main" val="8133092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7C5AF-144A-1EFC-027B-54A91D809D65}"/>
            </a:ext>
          </a:extLst>
        </p:cNvPr>
        <p:cNvGrpSpPr/>
        <p:nvPr/>
      </p:nvGrpSpPr>
      <p:grpSpPr>
        <a:xfrm>
          <a:off x="0" y="0"/>
          <a:ext cx="0" cy="0"/>
          <a:chOff x="0" y="0"/>
          <a:chExt cx="0" cy="0"/>
        </a:xfrm>
      </p:grpSpPr>
      <p:sp>
        <p:nvSpPr>
          <p:cNvPr id="8" name="Content Placeholder 7">
            <a:extLst>
              <a:ext uri="{FF2B5EF4-FFF2-40B4-BE49-F238E27FC236}">
                <a16:creationId xmlns:a16="http://schemas.microsoft.com/office/drawing/2014/main" id="{91F430E9-7D18-C836-5490-F0C1805B9EFD}"/>
              </a:ext>
            </a:extLst>
          </p:cNvPr>
          <p:cNvSpPr>
            <a:spLocks noGrp="1"/>
          </p:cNvSpPr>
          <p:nvPr>
            <p:ph sz="half" idx="2"/>
          </p:nvPr>
        </p:nvSpPr>
        <p:spPr/>
        <p:txBody>
          <a:bodyPr/>
          <a:lstStyle/>
          <a:p>
            <a:r>
              <a:rPr lang="en-US"/>
              <a:t>Space for photo of graph</a:t>
            </a:r>
          </a:p>
        </p:txBody>
      </p:sp>
      <p:sp>
        <p:nvSpPr>
          <p:cNvPr id="5" name="Slide Number Placeholder 4">
            <a:extLst>
              <a:ext uri="{FF2B5EF4-FFF2-40B4-BE49-F238E27FC236}">
                <a16:creationId xmlns:a16="http://schemas.microsoft.com/office/drawing/2014/main" id="{BEEBFAFF-FE15-2145-C2C6-6D2423B9B0C7}"/>
              </a:ext>
            </a:extLst>
          </p:cNvPr>
          <p:cNvSpPr>
            <a:spLocks noGrp="1"/>
          </p:cNvSpPr>
          <p:nvPr>
            <p:ph type="sldNum" sz="quarter" idx="14"/>
          </p:nvPr>
        </p:nvSpPr>
        <p:spPr/>
        <p:txBody>
          <a:bodyPr/>
          <a:lstStyle/>
          <a:p>
            <a:fld id="{86CB4B4D-7CA3-9044-876B-883B54F8677D}" type="slidenum">
              <a:rPr lang="en-US" smtClean="0"/>
              <a:pPr/>
              <a:t>12</a:t>
            </a:fld>
            <a:endParaRPr lang="en-US"/>
          </a:p>
        </p:txBody>
      </p:sp>
      <p:sp>
        <p:nvSpPr>
          <p:cNvPr id="10" name="Title 1">
            <a:extLst>
              <a:ext uri="{FF2B5EF4-FFF2-40B4-BE49-F238E27FC236}">
                <a16:creationId xmlns:a16="http://schemas.microsoft.com/office/drawing/2014/main" id="{50ECE3D1-4EA3-4335-014D-BF6141146812}"/>
              </a:ext>
            </a:extLst>
          </p:cNvPr>
          <p:cNvSpPr>
            <a:spLocks noGrp="1"/>
          </p:cNvSpPr>
          <p:nvPr>
            <p:ph type="title"/>
          </p:nvPr>
        </p:nvSpPr>
        <p:spPr>
          <a:xfrm>
            <a:off x="914399" y="1143000"/>
            <a:ext cx="21031201" cy="1371600"/>
          </a:xfrm>
        </p:spPr>
        <p:txBody>
          <a:bodyPr/>
          <a:lstStyle/>
          <a:p>
            <a:r>
              <a:rPr lang="en-US"/>
              <a:t>EMA Strategy</a:t>
            </a:r>
          </a:p>
        </p:txBody>
      </p:sp>
      <p:sp>
        <p:nvSpPr>
          <p:cNvPr id="11" name="Text Placeholder 3">
            <a:extLst>
              <a:ext uri="{FF2B5EF4-FFF2-40B4-BE49-F238E27FC236}">
                <a16:creationId xmlns:a16="http://schemas.microsoft.com/office/drawing/2014/main" id="{281A5327-A0D6-FE0C-DA1F-3BEBD464BFB6}"/>
              </a:ext>
            </a:extLst>
          </p:cNvPr>
          <p:cNvSpPr>
            <a:spLocks noGrp="1"/>
          </p:cNvSpPr>
          <p:nvPr>
            <p:ph type="body" sz="quarter" idx="13"/>
          </p:nvPr>
        </p:nvSpPr>
        <p:spPr>
          <a:xfrm>
            <a:off x="914399" y="685799"/>
            <a:ext cx="6741459" cy="457200"/>
          </a:xfrm>
        </p:spPr>
        <p:txBody>
          <a:bodyPr/>
          <a:lstStyle/>
          <a:p>
            <a:r>
              <a:rPr lang="en-US"/>
              <a:t>Visualizing SMA Crossovers</a:t>
            </a:r>
            <a:endParaRPr lang="en-US">
              <a:solidFill>
                <a:schemeClr val="tx2">
                  <a:lumMod val="75000"/>
                  <a:lumOff val="25000"/>
                </a:schemeClr>
              </a:solidFill>
            </a:endParaRPr>
          </a:p>
        </p:txBody>
      </p:sp>
      <p:sp>
        <p:nvSpPr>
          <p:cNvPr id="9" name="Content Placeholder 8">
            <a:extLst>
              <a:ext uri="{FF2B5EF4-FFF2-40B4-BE49-F238E27FC236}">
                <a16:creationId xmlns:a16="http://schemas.microsoft.com/office/drawing/2014/main" id="{F33A4BCC-650D-B6D9-0828-99827C2C7952}"/>
              </a:ext>
            </a:extLst>
          </p:cNvPr>
          <p:cNvSpPr>
            <a:spLocks noGrp="1"/>
          </p:cNvSpPr>
          <p:nvPr>
            <p:ph sz="half" idx="1"/>
          </p:nvPr>
        </p:nvSpPr>
        <p:spPr>
          <a:xfrm>
            <a:off x="592220" y="8275308"/>
            <a:ext cx="11276223" cy="2233492"/>
          </a:xfrm>
        </p:spPr>
        <p:txBody>
          <a:bodyPr>
            <a:normAutofit/>
          </a:bodyPr>
          <a:lstStyle/>
          <a:p>
            <a:pPr>
              <a:buFont typeface="Wingdings" pitchFamily="2" charset="2"/>
              <a:buChar char="§"/>
            </a:pPr>
            <a:r>
              <a:rPr lang="en-US">
                <a:solidFill>
                  <a:schemeClr val="tx1"/>
                </a:solidFill>
              </a:rPr>
              <a:t>High Volatility</a:t>
            </a:r>
          </a:p>
          <a:p>
            <a:pPr>
              <a:buFont typeface="Wingdings" pitchFamily="2" charset="2"/>
              <a:buChar char="§"/>
            </a:pPr>
            <a:r>
              <a:rPr lang="en-US">
                <a:solidFill>
                  <a:schemeClr val="tx1"/>
                </a:solidFill>
              </a:rPr>
              <a:t>Strong Momentum trades</a:t>
            </a:r>
          </a:p>
        </p:txBody>
      </p:sp>
      <p:sp>
        <p:nvSpPr>
          <p:cNvPr id="2" name="Content Placeholder 6">
            <a:extLst>
              <a:ext uri="{FF2B5EF4-FFF2-40B4-BE49-F238E27FC236}">
                <a16:creationId xmlns:a16="http://schemas.microsoft.com/office/drawing/2014/main" id="{287BB2EE-5867-73C6-2DB6-A5E533D5B8AD}"/>
              </a:ext>
            </a:extLst>
          </p:cNvPr>
          <p:cNvSpPr txBox="1">
            <a:spLocks/>
          </p:cNvSpPr>
          <p:nvPr/>
        </p:nvSpPr>
        <p:spPr>
          <a:xfrm>
            <a:off x="593598" y="3090123"/>
            <a:ext cx="11276222" cy="726540"/>
          </a:xfrm>
          <a:prstGeom prst="rect">
            <a:avLst/>
          </a:prstGeom>
          <a:solidFill>
            <a:srgbClr val="215F9A"/>
          </a:solidFill>
        </p:spPr>
        <p:txBody>
          <a:bodyPr vert="horz" lIns="91440" tIns="45720" rIns="91440" bIns="45720" rtlCol="0">
            <a:no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solidFill>
                  <a:schemeClr val="bg1"/>
                </a:solidFill>
              </a:rPr>
              <a:t>Strategy Overview</a:t>
            </a:r>
          </a:p>
        </p:txBody>
      </p:sp>
      <p:sp>
        <p:nvSpPr>
          <p:cNvPr id="6" name="Content Placeholder 6">
            <a:extLst>
              <a:ext uri="{FF2B5EF4-FFF2-40B4-BE49-F238E27FC236}">
                <a16:creationId xmlns:a16="http://schemas.microsoft.com/office/drawing/2014/main" id="{16FA8E5E-473E-BF12-A1F4-1EE66B03161F}"/>
              </a:ext>
            </a:extLst>
          </p:cNvPr>
          <p:cNvSpPr txBox="1">
            <a:spLocks/>
          </p:cNvSpPr>
          <p:nvPr/>
        </p:nvSpPr>
        <p:spPr>
          <a:xfrm>
            <a:off x="592220" y="7205340"/>
            <a:ext cx="11277600" cy="753035"/>
          </a:xfrm>
          <a:prstGeom prst="rect">
            <a:avLst/>
          </a:prstGeom>
          <a:solidFill>
            <a:srgbClr val="215F9A"/>
          </a:solidFill>
        </p:spPr>
        <p:txBody>
          <a:bodyPr vert="horz" lIns="91440" tIns="45720" rIns="91440" bIns="45720" rtlCol="0">
            <a:no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solidFill>
                  <a:schemeClr val="bg1"/>
                </a:solidFill>
              </a:rPr>
              <a:t>Why Tesla</a:t>
            </a:r>
          </a:p>
        </p:txBody>
      </p:sp>
      <p:sp>
        <p:nvSpPr>
          <p:cNvPr id="13" name="Content Placeholder 8">
            <a:extLst>
              <a:ext uri="{FF2B5EF4-FFF2-40B4-BE49-F238E27FC236}">
                <a16:creationId xmlns:a16="http://schemas.microsoft.com/office/drawing/2014/main" id="{32747CF7-A9BA-778A-1CFB-3964A323974A}"/>
              </a:ext>
            </a:extLst>
          </p:cNvPr>
          <p:cNvSpPr txBox="1">
            <a:spLocks/>
          </p:cNvSpPr>
          <p:nvPr/>
        </p:nvSpPr>
        <p:spPr>
          <a:xfrm>
            <a:off x="592220" y="4133596"/>
            <a:ext cx="11276223" cy="2233492"/>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Char char="§"/>
            </a:pPr>
            <a:r>
              <a:rPr lang="en-US">
                <a:solidFill>
                  <a:schemeClr val="tx1"/>
                </a:solidFill>
              </a:rPr>
              <a:t>Indicators: 9-day EMA (fast), 21-day EMA (slow)</a:t>
            </a:r>
          </a:p>
          <a:p>
            <a:pPr>
              <a:buFont typeface="Wingdings" pitchFamily="2" charset="2"/>
              <a:buChar char="§"/>
            </a:pPr>
            <a:r>
              <a:rPr lang="en-US">
                <a:solidFill>
                  <a:schemeClr val="tx1"/>
                </a:solidFill>
              </a:rPr>
              <a:t>Buy Signal: When 9-Day crosses above 21-Day</a:t>
            </a:r>
          </a:p>
          <a:p>
            <a:pPr>
              <a:buFont typeface="Wingdings" pitchFamily="2" charset="2"/>
              <a:buChar char="§"/>
            </a:pPr>
            <a:r>
              <a:rPr lang="en-US">
                <a:solidFill>
                  <a:schemeClr val="tx1"/>
                </a:solidFill>
              </a:rPr>
              <a:t>Inspired by the Golden/Death Cross, but using faster-reacting EMAs</a:t>
            </a:r>
          </a:p>
          <a:p>
            <a:pPr>
              <a:buFont typeface="Wingdings" pitchFamily="2" charset="2"/>
              <a:buChar char="§"/>
            </a:pPr>
            <a:r>
              <a:rPr lang="en-US">
                <a:solidFill>
                  <a:schemeClr val="tx1"/>
                </a:solidFill>
              </a:rPr>
              <a:t>Applied to Tesla (TSLA) from 2023-Current Day</a:t>
            </a:r>
          </a:p>
        </p:txBody>
      </p:sp>
      <p:pic>
        <p:nvPicPr>
          <p:cNvPr id="15" name="Picture 14" descr="A graph showing the growth of the stock market&#10;&#10;AI-generated content may be incorrect.">
            <a:extLst>
              <a:ext uri="{FF2B5EF4-FFF2-40B4-BE49-F238E27FC236}">
                <a16:creationId xmlns:a16="http://schemas.microsoft.com/office/drawing/2014/main" id="{B77A4E74-6CE1-42F1-EB3A-7EF3648A4A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68443" y="2904591"/>
            <a:ext cx="12190025" cy="8601498"/>
          </a:xfrm>
          <a:prstGeom prst="rect">
            <a:avLst/>
          </a:prstGeom>
        </p:spPr>
      </p:pic>
    </p:spTree>
    <p:extLst>
      <p:ext uri="{BB962C8B-B14F-4D97-AF65-F5344CB8AC3E}">
        <p14:creationId xmlns:p14="http://schemas.microsoft.com/office/powerpoint/2010/main" val="23558553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A2D77-3138-7408-8E76-1E1ABFE9A885}"/>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03A9F60-4815-FB4C-75D0-1F98BCB9640A}"/>
              </a:ext>
            </a:extLst>
          </p:cNvPr>
          <p:cNvSpPr>
            <a:spLocks noGrp="1"/>
          </p:cNvSpPr>
          <p:nvPr>
            <p:ph type="sldNum" sz="quarter" idx="14"/>
          </p:nvPr>
        </p:nvSpPr>
        <p:spPr/>
        <p:txBody>
          <a:bodyPr/>
          <a:lstStyle/>
          <a:p>
            <a:fld id="{86CB4B4D-7CA3-9044-876B-883B54F8677D}" type="slidenum">
              <a:rPr lang="en-US" smtClean="0"/>
              <a:pPr/>
              <a:t>13</a:t>
            </a:fld>
            <a:endParaRPr lang="en-US"/>
          </a:p>
        </p:txBody>
      </p:sp>
      <p:sp>
        <p:nvSpPr>
          <p:cNvPr id="10" name="Title 1">
            <a:extLst>
              <a:ext uri="{FF2B5EF4-FFF2-40B4-BE49-F238E27FC236}">
                <a16:creationId xmlns:a16="http://schemas.microsoft.com/office/drawing/2014/main" id="{87586147-EF1E-4B6F-0712-7F08B04A5761}"/>
              </a:ext>
            </a:extLst>
          </p:cNvPr>
          <p:cNvSpPr>
            <a:spLocks noGrp="1"/>
          </p:cNvSpPr>
          <p:nvPr>
            <p:ph type="title"/>
          </p:nvPr>
        </p:nvSpPr>
        <p:spPr>
          <a:xfrm>
            <a:off x="914399" y="1143000"/>
            <a:ext cx="21031201" cy="1371600"/>
          </a:xfrm>
        </p:spPr>
        <p:txBody>
          <a:bodyPr/>
          <a:lstStyle/>
          <a:p>
            <a:r>
              <a:rPr lang="en-US"/>
              <a:t>EMA – Results</a:t>
            </a:r>
          </a:p>
        </p:txBody>
      </p:sp>
      <p:sp>
        <p:nvSpPr>
          <p:cNvPr id="11" name="Text Placeholder 3">
            <a:extLst>
              <a:ext uri="{FF2B5EF4-FFF2-40B4-BE49-F238E27FC236}">
                <a16:creationId xmlns:a16="http://schemas.microsoft.com/office/drawing/2014/main" id="{40111397-0559-A7F6-2F9C-B61C30539139}"/>
              </a:ext>
            </a:extLst>
          </p:cNvPr>
          <p:cNvSpPr>
            <a:spLocks noGrp="1"/>
          </p:cNvSpPr>
          <p:nvPr>
            <p:ph type="body" sz="quarter" idx="13"/>
          </p:nvPr>
        </p:nvSpPr>
        <p:spPr>
          <a:xfrm>
            <a:off x="914399" y="685799"/>
            <a:ext cx="6741459" cy="457200"/>
          </a:xfrm>
        </p:spPr>
        <p:txBody>
          <a:bodyPr/>
          <a:lstStyle/>
          <a:p>
            <a:r>
              <a:rPr lang="en-US"/>
              <a:t>Visualizing SMA Crossovers</a:t>
            </a:r>
            <a:endParaRPr lang="en-US">
              <a:solidFill>
                <a:schemeClr val="tx2">
                  <a:lumMod val="75000"/>
                  <a:lumOff val="25000"/>
                </a:schemeClr>
              </a:solidFill>
            </a:endParaRPr>
          </a:p>
        </p:txBody>
      </p:sp>
      <p:sp>
        <p:nvSpPr>
          <p:cNvPr id="2" name="Content Placeholder 6">
            <a:extLst>
              <a:ext uri="{FF2B5EF4-FFF2-40B4-BE49-F238E27FC236}">
                <a16:creationId xmlns:a16="http://schemas.microsoft.com/office/drawing/2014/main" id="{E859A4C1-7CFD-3E7D-EB12-71EF79A3A839}"/>
              </a:ext>
            </a:extLst>
          </p:cNvPr>
          <p:cNvSpPr txBox="1">
            <a:spLocks noGrp="1"/>
          </p:cNvSpPr>
          <p:nvPr>
            <p:ph sz="half" idx="1"/>
          </p:nvPr>
        </p:nvSpPr>
        <p:spPr>
          <a:xfrm>
            <a:off x="914400" y="2998437"/>
            <a:ext cx="11277600" cy="753035"/>
          </a:xfrm>
          <a:prstGeom prst="rect">
            <a:avLst/>
          </a:prstGeom>
          <a:solidFill>
            <a:srgbClr val="215F9A"/>
          </a:solidFill>
        </p:spPr>
        <p:txBody>
          <a:bodyPr vert="horz" lIns="91440" tIns="45720" rIns="91440" bIns="45720" rtlCol="0">
            <a:no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err="1">
                <a:solidFill>
                  <a:schemeClr val="bg1"/>
                </a:solidFill>
              </a:rPr>
              <a:t>Backtest</a:t>
            </a:r>
            <a:r>
              <a:rPr lang="en-US">
                <a:solidFill>
                  <a:schemeClr val="bg1"/>
                </a:solidFill>
              </a:rPr>
              <a:t> Setup</a:t>
            </a:r>
          </a:p>
        </p:txBody>
      </p:sp>
      <p:sp>
        <p:nvSpPr>
          <p:cNvPr id="4" name="Content Placeholder 8">
            <a:extLst>
              <a:ext uri="{FF2B5EF4-FFF2-40B4-BE49-F238E27FC236}">
                <a16:creationId xmlns:a16="http://schemas.microsoft.com/office/drawing/2014/main" id="{05DBD278-EFCD-AA65-EF9A-459D0626E96B}"/>
              </a:ext>
            </a:extLst>
          </p:cNvPr>
          <p:cNvSpPr txBox="1">
            <a:spLocks/>
          </p:cNvSpPr>
          <p:nvPr/>
        </p:nvSpPr>
        <p:spPr>
          <a:xfrm>
            <a:off x="914398" y="4133596"/>
            <a:ext cx="11277599" cy="2233492"/>
          </a:xfrm>
          <a:prstGeom prst="rect">
            <a:avLst/>
          </a:prstGeom>
        </p:spPr>
        <p:txBody>
          <a:bodyPr vert="horz" lIns="91440" tIns="45720" rIns="91440" bIns="45720" rtlCol="0">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Char char="§"/>
            </a:pPr>
            <a:endParaRPr lang="en-US">
              <a:solidFill>
                <a:schemeClr val="tx1"/>
              </a:solidFill>
            </a:endParaRPr>
          </a:p>
        </p:txBody>
      </p:sp>
      <p:sp>
        <p:nvSpPr>
          <p:cNvPr id="8" name="Content Placeholder 8">
            <a:extLst>
              <a:ext uri="{FF2B5EF4-FFF2-40B4-BE49-F238E27FC236}">
                <a16:creationId xmlns:a16="http://schemas.microsoft.com/office/drawing/2014/main" id="{387FCA41-8289-408F-4A12-21E0E9178432}"/>
              </a:ext>
            </a:extLst>
          </p:cNvPr>
          <p:cNvSpPr txBox="1">
            <a:spLocks/>
          </p:cNvSpPr>
          <p:nvPr/>
        </p:nvSpPr>
        <p:spPr>
          <a:xfrm>
            <a:off x="914398" y="4133595"/>
            <a:ext cx="11277599" cy="3215317"/>
          </a:xfrm>
          <a:prstGeom prst="rect">
            <a:avLst/>
          </a:prstGeom>
        </p:spPr>
        <p:txBody>
          <a:bodyPr vert="horz" lIns="91440" tIns="45720" rIns="91440" bIns="45720" rtlCol="0">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Char char="§"/>
            </a:pPr>
            <a:r>
              <a:rPr lang="en-US">
                <a:solidFill>
                  <a:schemeClr val="tx1"/>
                </a:solidFill>
              </a:rPr>
              <a:t>Date Range: Jan 2023- April 2025</a:t>
            </a:r>
          </a:p>
          <a:p>
            <a:pPr>
              <a:buFont typeface="Wingdings" pitchFamily="2" charset="2"/>
              <a:buChar char="§"/>
            </a:pPr>
            <a:r>
              <a:rPr lang="en-US">
                <a:solidFill>
                  <a:schemeClr val="tx1"/>
                </a:solidFill>
              </a:rPr>
              <a:t>Rules:</a:t>
            </a:r>
          </a:p>
          <a:p>
            <a:pPr>
              <a:buFontTx/>
              <a:buChar char="-"/>
            </a:pPr>
            <a:r>
              <a:rPr lang="en-US">
                <a:solidFill>
                  <a:schemeClr val="tx1"/>
                </a:solidFill>
              </a:rPr>
              <a:t>Buy when 9-Day crosses above 21-day, sell when 9-Day crosses below</a:t>
            </a:r>
          </a:p>
          <a:p>
            <a:pPr>
              <a:buFontTx/>
              <a:buChar char="-"/>
            </a:pPr>
            <a:r>
              <a:rPr lang="en-US">
                <a:solidFill>
                  <a:schemeClr val="tx1"/>
                </a:solidFill>
              </a:rPr>
              <a:t>No partial Trades, all in or all out</a:t>
            </a:r>
          </a:p>
          <a:p>
            <a:pPr>
              <a:buFontTx/>
              <a:buChar char="-"/>
            </a:pPr>
            <a:endParaRPr lang="en-US">
              <a:solidFill>
                <a:schemeClr val="tx1"/>
              </a:solidFill>
            </a:endParaRPr>
          </a:p>
          <a:p>
            <a:pPr>
              <a:buFontTx/>
              <a:buChar char="-"/>
            </a:pPr>
            <a:endParaRPr lang="en-US">
              <a:solidFill>
                <a:schemeClr val="tx1"/>
              </a:solidFill>
            </a:endParaRPr>
          </a:p>
        </p:txBody>
      </p:sp>
      <p:sp>
        <p:nvSpPr>
          <p:cNvPr id="9" name="Content Placeholder 6">
            <a:extLst>
              <a:ext uri="{FF2B5EF4-FFF2-40B4-BE49-F238E27FC236}">
                <a16:creationId xmlns:a16="http://schemas.microsoft.com/office/drawing/2014/main" id="{B3AD34BD-B7B1-2A83-0C0A-BA48E65CB822}"/>
              </a:ext>
            </a:extLst>
          </p:cNvPr>
          <p:cNvSpPr txBox="1">
            <a:spLocks/>
          </p:cNvSpPr>
          <p:nvPr/>
        </p:nvSpPr>
        <p:spPr>
          <a:xfrm>
            <a:off x="914400" y="7463306"/>
            <a:ext cx="11277600" cy="753035"/>
          </a:xfrm>
          <a:prstGeom prst="rect">
            <a:avLst/>
          </a:prstGeom>
          <a:solidFill>
            <a:srgbClr val="215F9A"/>
          </a:solidFill>
        </p:spPr>
        <p:txBody>
          <a:bodyPr vert="horz" lIns="91440" tIns="45720" rIns="91440" bIns="45720" rtlCol="0">
            <a:no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solidFill>
                  <a:schemeClr val="bg1"/>
                </a:solidFill>
              </a:rPr>
              <a:t>Results</a:t>
            </a:r>
          </a:p>
        </p:txBody>
      </p:sp>
      <p:sp>
        <p:nvSpPr>
          <p:cNvPr id="12" name="Content Placeholder 8">
            <a:extLst>
              <a:ext uri="{FF2B5EF4-FFF2-40B4-BE49-F238E27FC236}">
                <a16:creationId xmlns:a16="http://schemas.microsoft.com/office/drawing/2014/main" id="{6DD49958-7935-CE3C-C3FD-473F58657B33}"/>
              </a:ext>
            </a:extLst>
          </p:cNvPr>
          <p:cNvSpPr txBox="1">
            <a:spLocks/>
          </p:cNvSpPr>
          <p:nvPr/>
        </p:nvSpPr>
        <p:spPr>
          <a:xfrm>
            <a:off x="908051" y="8680967"/>
            <a:ext cx="11277599" cy="3215317"/>
          </a:xfrm>
          <a:prstGeom prst="rect">
            <a:avLst/>
          </a:prstGeom>
        </p:spPr>
        <p:txBody>
          <a:bodyPr vert="horz" lIns="91440" tIns="45720" rIns="91440" bIns="45720" rtlCol="0">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Char char="§"/>
            </a:pPr>
            <a:endParaRPr lang="en-US">
              <a:solidFill>
                <a:schemeClr val="tx1"/>
              </a:solidFill>
            </a:endParaRPr>
          </a:p>
          <a:p>
            <a:pPr>
              <a:buFontTx/>
              <a:buChar char="-"/>
            </a:pPr>
            <a:endParaRPr lang="en-US">
              <a:solidFill>
                <a:schemeClr val="tx1"/>
              </a:solidFill>
            </a:endParaRPr>
          </a:p>
        </p:txBody>
      </p:sp>
      <p:pic>
        <p:nvPicPr>
          <p:cNvPr id="15" name="Picture 14" descr="A black text on a white background&#10;&#10;AI-generated content may be incorrect.">
            <a:extLst>
              <a:ext uri="{FF2B5EF4-FFF2-40B4-BE49-F238E27FC236}">
                <a16:creationId xmlns:a16="http://schemas.microsoft.com/office/drawing/2014/main" id="{926E3A8F-2F40-282A-C79D-BA4DEC6659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0630" y="8445130"/>
            <a:ext cx="10319369" cy="3921360"/>
          </a:xfrm>
          <a:prstGeom prst="rect">
            <a:avLst/>
          </a:prstGeom>
        </p:spPr>
      </p:pic>
      <p:pic>
        <p:nvPicPr>
          <p:cNvPr id="19" name="Picture 18" descr="A screenshot of a newspaper&#10;&#10;AI-generated content may be incorrect.">
            <a:extLst>
              <a:ext uri="{FF2B5EF4-FFF2-40B4-BE49-F238E27FC236}">
                <a16:creationId xmlns:a16="http://schemas.microsoft.com/office/drawing/2014/main" id="{AE744EAF-0E60-396E-BE5F-EF156E95EB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382420" y="850172"/>
            <a:ext cx="5931808" cy="10870946"/>
          </a:xfrm>
          <a:prstGeom prst="rect">
            <a:avLst/>
          </a:prstGeom>
        </p:spPr>
      </p:pic>
    </p:spTree>
    <p:extLst>
      <p:ext uri="{BB962C8B-B14F-4D97-AF65-F5344CB8AC3E}">
        <p14:creationId xmlns:p14="http://schemas.microsoft.com/office/powerpoint/2010/main" val="8591525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3E40E-01D7-810E-CC1B-40FD7FD0CD08}"/>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275439A-EAD3-3E26-94A9-EE7426D29B27}"/>
              </a:ext>
            </a:extLst>
          </p:cNvPr>
          <p:cNvSpPr>
            <a:spLocks noGrp="1"/>
          </p:cNvSpPr>
          <p:nvPr>
            <p:ph type="sldNum" sz="quarter" idx="14"/>
          </p:nvPr>
        </p:nvSpPr>
        <p:spPr/>
        <p:txBody>
          <a:bodyPr/>
          <a:lstStyle/>
          <a:p>
            <a:fld id="{86CB4B4D-7CA3-9044-876B-883B54F8677D}" type="slidenum">
              <a:rPr lang="en-US" smtClean="0"/>
              <a:pPr/>
              <a:t>14</a:t>
            </a:fld>
            <a:endParaRPr lang="en-US"/>
          </a:p>
        </p:txBody>
      </p:sp>
      <p:sp>
        <p:nvSpPr>
          <p:cNvPr id="10" name="Title 1">
            <a:extLst>
              <a:ext uri="{FF2B5EF4-FFF2-40B4-BE49-F238E27FC236}">
                <a16:creationId xmlns:a16="http://schemas.microsoft.com/office/drawing/2014/main" id="{AA2C1B2B-1166-70F4-A6A7-9B09A28C25BD}"/>
              </a:ext>
            </a:extLst>
          </p:cNvPr>
          <p:cNvSpPr>
            <a:spLocks noGrp="1"/>
          </p:cNvSpPr>
          <p:nvPr>
            <p:ph type="title"/>
          </p:nvPr>
        </p:nvSpPr>
        <p:spPr>
          <a:xfrm>
            <a:off x="914399" y="1143000"/>
            <a:ext cx="21031201" cy="1371600"/>
          </a:xfrm>
        </p:spPr>
        <p:txBody>
          <a:bodyPr/>
          <a:lstStyle/>
          <a:p>
            <a:r>
              <a:rPr lang="en-US"/>
              <a:t>EMA – Results</a:t>
            </a:r>
          </a:p>
        </p:txBody>
      </p:sp>
      <p:sp>
        <p:nvSpPr>
          <p:cNvPr id="11" name="Text Placeholder 3">
            <a:extLst>
              <a:ext uri="{FF2B5EF4-FFF2-40B4-BE49-F238E27FC236}">
                <a16:creationId xmlns:a16="http://schemas.microsoft.com/office/drawing/2014/main" id="{16A60BA9-ED8E-93D8-2006-BDBCF90BD1B9}"/>
              </a:ext>
            </a:extLst>
          </p:cNvPr>
          <p:cNvSpPr>
            <a:spLocks noGrp="1"/>
          </p:cNvSpPr>
          <p:nvPr>
            <p:ph type="body" sz="quarter" idx="13"/>
          </p:nvPr>
        </p:nvSpPr>
        <p:spPr>
          <a:xfrm>
            <a:off x="914399" y="685799"/>
            <a:ext cx="6741459" cy="457200"/>
          </a:xfrm>
        </p:spPr>
        <p:txBody>
          <a:bodyPr/>
          <a:lstStyle/>
          <a:p>
            <a:r>
              <a:rPr lang="en-US"/>
              <a:t>Visualizing SMA Crossovers</a:t>
            </a:r>
            <a:endParaRPr lang="en-US">
              <a:solidFill>
                <a:schemeClr val="tx2">
                  <a:lumMod val="75000"/>
                  <a:lumOff val="25000"/>
                </a:schemeClr>
              </a:solidFill>
            </a:endParaRPr>
          </a:p>
        </p:txBody>
      </p:sp>
      <p:pic>
        <p:nvPicPr>
          <p:cNvPr id="7" name="Picture 6" descr="A graph with lines and arrows&#10;&#10;AI-generated content may be incorrect.">
            <a:extLst>
              <a:ext uri="{FF2B5EF4-FFF2-40B4-BE49-F238E27FC236}">
                <a16:creationId xmlns:a16="http://schemas.microsoft.com/office/drawing/2014/main" id="{7DAB94DA-EDFD-0E21-FFC5-8DD6309D4A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12572" y="2365051"/>
            <a:ext cx="19494208" cy="10286154"/>
          </a:xfrm>
          <a:prstGeom prst="rect">
            <a:avLst/>
          </a:prstGeom>
        </p:spPr>
      </p:pic>
    </p:spTree>
    <p:extLst>
      <p:ext uri="{BB962C8B-B14F-4D97-AF65-F5344CB8AC3E}">
        <p14:creationId xmlns:p14="http://schemas.microsoft.com/office/powerpoint/2010/main" val="37897371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F8F85-BD93-DA44-ED54-3C40A044683E}"/>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B3F7ED7-606D-32FF-1472-51E5AF6541EA}"/>
              </a:ext>
            </a:extLst>
          </p:cNvPr>
          <p:cNvSpPr>
            <a:spLocks noGrp="1"/>
          </p:cNvSpPr>
          <p:nvPr>
            <p:ph type="sldNum" sz="quarter" idx="14"/>
          </p:nvPr>
        </p:nvSpPr>
        <p:spPr/>
        <p:txBody>
          <a:bodyPr/>
          <a:lstStyle/>
          <a:p>
            <a:fld id="{86CB4B4D-7CA3-9044-876B-883B54F8677D}" type="slidenum">
              <a:rPr lang="en-US" smtClean="0"/>
              <a:pPr/>
              <a:t>16</a:t>
            </a:fld>
            <a:endParaRPr lang="en-US"/>
          </a:p>
        </p:txBody>
      </p:sp>
      <p:sp>
        <p:nvSpPr>
          <p:cNvPr id="10" name="Title 1">
            <a:extLst>
              <a:ext uri="{FF2B5EF4-FFF2-40B4-BE49-F238E27FC236}">
                <a16:creationId xmlns:a16="http://schemas.microsoft.com/office/drawing/2014/main" id="{96C31A79-D71D-C616-C210-DAD1EF6EAB83}"/>
              </a:ext>
            </a:extLst>
          </p:cNvPr>
          <p:cNvSpPr>
            <a:spLocks noGrp="1"/>
          </p:cNvSpPr>
          <p:nvPr>
            <p:ph type="title"/>
          </p:nvPr>
        </p:nvSpPr>
        <p:spPr>
          <a:xfrm>
            <a:off x="914399" y="1143000"/>
            <a:ext cx="21031201" cy="1371600"/>
          </a:xfrm>
        </p:spPr>
        <p:txBody>
          <a:bodyPr/>
          <a:lstStyle/>
          <a:p>
            <a:r>
              <a:rPr lang="en-US"/>
              <a:t>Support and Resistance</a:t>
            </a:r>
          </a:p>
        </p:txBody>
      </p:sp>
      <p:sp>
        <p:nvSpPr>
          <p:cNvPr id="11" name="Text Placeholder 3">
            <a:extLst>
              <a:ext uri="{FF2B5EF4-FFF2-40B4-BE49-F238E27FC236}">
                <a16:creationId xmlns:a16="http://schemas.microsoft.com/office/drawing/2014/main" id="{B64C168A-55E8-39C3-40B6-0AB915E676EB}"/>
              </a:ext>
            </a:extLst>
          </p:cNvPr>
          <p:cNvSpPr>
            <a:spLocks noGrp="1"/>
          </p:cNvSpPr>
          <p:nvPr>
            <p:ph type="body" sz="quarter" idx="13"/>
          </p:nvPr>
        </p:nvSpPr>
        <p:spPr>
          <a:xfrm>
            <a:off x="914399" y="685799"/>
            <a:ext cx="6741459" cy="457200"/>
          </a:xfrm>
        </p:spPr>
        <p:txBody>
          <a:bodyPr/>
          <a:lstStyle/>
          <a:p>
            <a:r>
              <a:rPr lang="en-US"/>
              <a:t>Visualizing SMA Crossovers</a:t>
            </a:r>
            <a:endParaRPr lang="en-US">
              <a:solidFill>
                <a:schemeClr val="tx2">
                  <a:lumMod val="75000"/>
                  <a:lumOff val="25000"/>
                </a:schemeClr>
              </a:solidFill>
            </a:endParaRPr>
          </a:p>
        </p:txBody>
      </p:sp>
      <p:sp>
        <p:nvSpPr>
          <p:cNvPr id="9" name="Content Placeholder 8">
            <a:extLst>
              <a:ext uri="{FF2B5EF4-FFF2-40B4-BE49-F238E27FC236}">
                <a16:creationId xmlns:a16="http://schemas.microsoft.com/office/drawing/2014/main" id="{E4F7F474-FBF0-F465-AC64-258756875160}"/>
              </a:ext>
            </a:extLst>
          </p:cNvPr>
          <p:cNvSpPr>
            <a:spLocks noGrp="1"/>
          </p:cNvSpPr>
          <p:nvPr>
            <p:ph sz="half" idx="1"/>
          </p:nvPr>
        </p:nvSpPr>
        <p:spPr>
          <a:xfrm>
            <a:off x="914400" y="3935905"/>
            <a:ext cx="10327342" cy="8420431"/>
          </a:xfrm>
        </p:spPr>
        <p:txBody>
          <a:bodyPr>
            <a:normAutofit/>
          </a:bodyPr>
          <a:lstStyle/>
          <a:p>
            <a:pPr>
              <a:buNone/>
            </a:pPr>
            <a:r>
              <a:rPr lang="en-US"/>
              <a:t>Moving averages often act like dynamic support or resistance levels:</a:t>
            </a:r>
          </a:p>
          <a:p>
            <a:pPr>
              <a:buFont typeface="Arial" panose="020B0604020202020204" pitchFamily="34" charset="0"/>
              <a:buChar char="•"/>
            </a:pPr>
            <a:r>
              <a:rPr lang="en-US" b="1"/>
              <a:t>Resistance</a:t>
            </a:r>
            <a:r>
              <a:rPr lang="en-US"/>
              <a:t>: When price is below an MA, the MA can act as a ceiling, price tends to bounce down from it.</a:t>
            </a:r>
          </a:p>
          <a:p>
            <a:pPr>
              <a:buFont typeface="Arial" panose="020B0604020202020204" pitchFamily="34" charset="0"/>
              <a:buChar char="•"/>
            </a:pPr>
            <a:r>
              <a:rPr lang="en-US" b="1"/>
              <a:t>Support: </a:t>
            </a:r>
            <a:r>
              <a:rPr lang="en-US"/>
              <a:t>When price is above an MA, the MA can act as a floor, price may bounce up from it.</a:t>
            </a:r>
          </a:p>
          <a:p>
            <a:r>
              <a:rPr lang="en-US"/>
              <a:t>This effect is strongest with widely used MAs (e.g., 50-day, 200-day), because many traders and algorithms watch them, creating self-fulfilling behavior.</a:t>
            </a:r>
          </a:p>
        </p:txBody>
      </p:sp>
      <p:sp>
        <p:nvSpPr>
          <p:cNvPr id="7" name="Content Placeholder 6">
            <a:extLst>
              <a:ext uri="{FF2B5EF4-FFF2-40B4-BE49-F238E27FC236}">
                <a16:creationId xmlns:a16="http://schemas.microsoft.com/office/drawing/2014/main" id="{55E96E51-9DC3-5F40-A5C5-7F8EB4BA6CE7}"/>
              </a:ext>
            </a:extLst>
          </p:cNvPr>
          <p:cNvSpPr txBox="1">
            <a:spLocks/>
          </p:cNvSpPr>
          <p:nvPr/>
        </p:nvSpPr>
        <p:spPr>
          <a:xfrm>
            <a:off x="914399" y="3209366"/>
            <a:ext cx="10327342" cy="726540"/>
          </a:xfrm>
          <a:prstGeom prst="rect">
            <a:avLst/>
          </a:prstGeom>
          <a:solidFill>
            <a:srgbClr val="215F9A"/>
          </a:solidFill>
        </p:spPr>
        <p:txBody>
          <a:bodyPr vert="horz" lIns="91440" tIns="45720" rIns="91440" bIns="45720" rtlCol="0">
            <a:no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solidFill>
                  <a:schemeClr val="bg1"/>
                </a:solidFill>
              </a:rPr>
              <a:t>Resistance</a:t>
            </a:r>
          </a:p>
        </p:txBody>
      </p:sp>
      <p:pic>
        <p:nvPicPr>
          <p:cNvPr id="2" name="Picture 1">
            <a:extLst>
              <a:ext uri="{FF2B5EF4-FFF2-40B4-BE49-F238E27FC236}">
                <a16:creationId xmlns:a16="http://schemas.microsoft.com/office/drawing/2014/main" id="{9085578E-2749-A119-473D-D2567818EFB6}"/>
              </a:ext>
            </a:extLst>
          </p:cNvPr>
          <p:cNvPicPr>
            <a:picLocks noChangeAspect="1"/>
          </p:cNvPicPr>
          <p:nvPr/>
        </p:nvPicPr>
        <p:blipFill>
          <a:blip r:embed="rId3"/>
          <a:stretch>
            <a:fillRect/>
          </a:stretch>
        </p:blipFill>
        <p:spPr>
          <a:xfrm>
            <a:off x="13928498" y="2313379"/>
            <a:ext cx="7748216" cy="4406428"/>
          </a:xfrm>
          <a:prstGeom prst="rect">
            <a:avLst/>
          </a:prstGeom>
        </p:spPr>
      </p:pic>
      <p:pic>
        <p:nvPicPr>
          <p:cNvPr id="3" name="Picture 2">
            <a:extLst>
              <a:ext uri="{FF2B5EF4-FFF2-40B4-BE49-F238E27FC236}">
                <a16:creationId xmlns:a16="http://schemas.microsoft.com/office/drawing/2014/main" id="{C357A34F-109A-ECD8-FF39-C4DDBF09B221}"/>
              </a:ext>
            </a:extLst>
          </p:cNvPr>
          <p:cNvPicPr>
            <a:picLocks noChangeAspect="1"/>
          </p:cNvPicPr>
          <p:nvPr/>
        </p:nvPicPr>
        <p:blipFill>
          <a:blip r:embed="rId4"/>
          <a:stretch>
            <a:fillRect/>
          </a:stretch>
        </p:blipFill>
        <p:spPr>
          <a:xfrm>
            <a:off x="13928498" y="6996193"/>
            <a:ext cx="7748216" cy="4406428"/>
          </a:xfrm>
          <a:prstGeom prst="rect">
            <a:avLst/>
          </a:prstGeom>
        </p:spPr>
      </p:pic>
    </p:spTree>
    <p:extLst>
      <p:ext uri="{BB962C8B-B14F-4D97-AF65-F5344CB8AC3E}">
        <p14:creationId xmlns:p14="http://schemas.microsoft.com/office/powerpoint/2010/main" val="13491333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B6C3F-4453-D38D-DDBD-4D7B9E3CDFF4}"/>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CFB8515-8EE3-A314-9352-967003764796}"/>
              </a:ext>
            </a:extLst>
          </p:cNvPr>
          <p:cNvSpPr>
            <a:spLocks noGrp="1"/>
          </p:cNvSpPr>
          <p:nvPr>
            <p:ph type="sldNum" sz="quarter" idx="14"/>
          </p:nvPr>
        </p:nvSpPr>
        <p:spPr/>
        <p:txBody>
          <a:bodyPr/>
          <a:lstStyle/>
          <a:p>
            <a:fld id="{86CB4B4D-7CA3-9044-876B-883B54F8677D}" type="slidenum">
              <a:rPr lang="en-US" smtClean="0"/>
              <a:pPr/>
              <a:t>17</a:t>
            </a:fld>
            <a:endParaRPr lang="en-US"/>
          </a:p>
        </p:txBody>
      </p:sp>
      <p:sp>
        <p:nvSpPr>
          <p:cNvPr id="10" name="Title 1">
            <a:extLst>
              <a:ext uri="{FF2B5EF4-FFF2-40B4-BE49-F238E27FC236}">
                <a16:creationId xmlns:a16="http://schemas.microsoft.com/office/drawing/2014/main" id="{21A0C9D7-7F18-DE21-878B-EC8E2114B9CB}"/>
              </a:ext>
            </a:extLst>
          </p:cNvPr>
          <p:cNvSpPr>
            <a:spLocks noGrp="1"/>
          </p:cNvSpPr>
          <p:nvPr>
            <p:ph type="title"/>
          </p:nvPr>
        </p:nvSpPr>
        <p:spPr>
          <a:xfrm>
            <a:off x="914399" y="1143000"/>
            <a:ext cx="21031201" cy="1371600"/>
          </a:xfrm>
        </p:spPr>
        <p:txBody>
          <a:bodyPr/>
          <a:lstStyle/>
          <a:p>
            <a:r>
              <a:rPr lang="en-US"/>
              <a:t>Limitations of SMA and EMA</a:t>
            </a:r>
          </a:p>
        </p:txBody>
      </p:sp>
      <p:sp>
        <p:nvSpPr>
          <p:cNvPr id="11" name="Text Placeholder 3">
            <a:extLst>
              <a:ext uri="{FF2B5EF4-FFF2-40B4-BE49-F238E27FC236}">
                <a16:creationId xmlns:a16="http://schemas.microsoft.com/office/drawing/2014/main" id="{5ED19268-76A7-2F00-3E86-5F9D86E47393}"/>
              </a:ext>
            </a:extLst>
          </p:cNvPr>
          <p:cNvSpPr>
            <a:spLocks noGrp="1"/>
          </p:cNvSpPr>
          <p:nvPr>
            <p:ph type="body" sz="quarter" idx="13"/>
          </p:nvPr>
        </p:nvSpPr>
        <p:spPr>
          <a:xfrm>
            <a:off x="914399" y="685799"/>
            <a:ext cx="6741459" cy="457200"/>
          </a:xfrm>
        </p:spPr>
        <p:txBody>
          <a:bodyPr/>
          <a:lstStyle/>
          <a:p>
            <a:r>
              <a:rPr lang="en-US"/>
              <a:t>Visualizing SMA Crossovers</a:t>
            </a:r>
            <a:endParaRPr lang="en-US">
              <a:solidFill>
                <a:schemeClr val="tx2">
                  <a:lumMod val="75000"/>
                  <a:lumOff val="25000"/>
                </a:schemeClr>
              </a:solidFill>
            </a:endParaRPr>
          </a:p>
        </p:txBody>
      </p:sp>
      <p:sp>
        <p:nvSpPr>
          <p:cNvPr id="9" name="Content Placeholder 8">
            <a:extLst>
              <a:ext uri="{FF2B5EF4-FFF2-40B4-BE49-F238E27FC236}">
                <a16:creationId xmlns:a16="http://schemas.microsoft.com/office/drawing/2014/main" id="{9102EB48-1C75-76AA-F4E9-3600740EEE94}"/>
              </a:ext>
            </a:extLst>
          </p:cNvPr>
          <p:cNvSpPr>
            <a:spLocks noGrp="1"/>
          </p:cNvSpPr>
          <p:nvPr>
            <p:ph sz="half" idx="1"/>
          </p:nvPr>
        </p:nvSpPr>
        <p:spPr>
          <a:xfrm>
            <a:off x="914400" y="3935905"/>
            <a:ext cx="10327342" cy="8420431"/>
          </a:xfrm>
        </p:spPr>
        <p:txBody>
          <a:bodyPr>
            <a:normAutofit/>
          </a:bodyPr>
          <a:lstStyle/>
          <a:p>
            <a:pPr>
              <a:buNone/>
            </a:pPr>
            <a:r>
              <a:rPr lang="en-US" b="1"/>
              <a:t>Lags Behind Price</a:t>
            </a:r>
            <a:endParaRPr lang="en-US"/>
          </a:p>
          <a:p>
            <a:pPr>
              <a:buFont typeface="Wingdings" pitchFamily="2" charset="2"/>
              <a:buChar char="§"/>
            </a:pPr>
            <a:r>
              <a:rPr lang="en-US"/>
              <a:t>Responds slowly to recent market changes</a:t>
            </a:r>
          </a:p>
          <a:p>
            <a:pPr>
              <a:buNone/>
            </a:pPr>
            <a:r>
              <a:rPr lang="en-US" b="1"/>
              <a:t>Equal Weight to All Days</a:t>
            </a:r>
            <a:endParaRPr lang="en-US"/>
          </a:p>
          <a:p>
            <a:pPr>
              <a:buFont typeface="Wingdings" pitchFamily="2" charset="2"/>
              <a:buChar char="§"/>
            </a:pPr>
            <a:r>
              <a:rPr lang="en-US"/>
              <a:t>Doesn’t prioritize recent data and is less responsive in fast-moving markets</a:t>
            </a:r>
          </a:p>
          <a:p>
            <a:pPr>
              <a:buNone/>
            </a:pPr>
            <a:r>
              <a:rPr lang="en-US" b="1"/>
              <a:t>Whipsaws in Sideways Markets</a:t>
            </a:r>
            <a:endParaRPr lang="en-US"/>
          </a:p>
          <a:p>
            <a:pPr>
              <a:buFont typeface="Wingdings" pitchFamily="2" charset="2"/>
              <a:buChar char="§"/>
            </a:pPr>
            <a:r>
              <a:rPr lang="en-US"/>
              <a:t>Generates false signals during low volatility or choppy conditions</a:t>
            </a:r>
          </a:p>
          <a:p>
            <a:pPr>
              <a:buNone/>
            </a:pPr>
            <a:r>
              <a:rPr lang="en-US" b="1"/>
              <a:t>Not Suitable Alone for Timing</a:t>
            </a:r>
            <a:endParaRPr lang="en-US"/>
          </a:p>
          <a:p>
            <a:pPr>
              <a:buFont typeface="Wingdings" pitchFamily="2" charset="2"/>
              <a:buChar char="§"/>
            </a:pPr>
            <a:r>
              <a:rPr lang="en-US"/>
              <a:t>Best used to identify trends, not precise entry/exit points</a:t>
            </a:r>
          </a:p>
        </p:txBody>
      </p:sp>
      <p:sp>
        <p:nvSpPr>
          <p:cNvPr id="7" name="Content Placeholder 6">
            <a:extLst>
              <a:ext uri="{FF2B5EF4-FFF2-40B4-BE49-F238E27FC236}">
                <a16:creationId xmlns:a16="http://schemas.microsoft.com/office/drawing/2014/main" id="{205D88B6-F166-CD38-A8BF-03CA56B19797}"/>
              </a:ext>
            </a:extLst>
          </p:cNvPr>
          <p:cNvSpPr txBox="1">
            <a:spLocks/>
          </p:cNvSpPr>
          <p:nvPr/>
        </p:nvSpPr>
        <p:spPr>
          <a:xfrm>
            <a:off x="914399" y="3209366"/>
            <a:ext cx="10327342" cy="726540"/>
          </a:xfrm>
          <a:prstGeom prst="rect">
            <a:avLst/>
          </a:prstGeom>
          <a:solidFill>
            <a:srgbClr val="215F9A"/>
          </a:solidFill>
        </p:spPr>
        <p:txBody>
          <a:bodyPr vert="horz" lIns="91440" tIns="45720" rIns="91440" bIns="45720" rtlCol="0">
            <a:no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solidFill>
                  <a:schemeClr val="bg1"/>
                </a:solidFill>
              </a:rPr>
              <a:t>Limitations of SMA</a:t>
            </a:r>
          </a:p>
        </p:txBody>
      </p:sp>
      <p:sp>
        <p:nvSpPr>
          <p:cNvPr id="12" name="Content Placeholder 8">
            <a:extLst>
              <a:ext uri="{FF2B5EF4-FFF2-40B4-BE49-F238E27FC236}">
                <a16:creationId xmlns:a16="http://schemas.microsoft.com/office/drawing/2014/main" id="{5B1AD570-BE31-AE45-E66F-064E5AE0CBA5}"/>
              </a:ext>
            </a:extLst>
          </p:cNvPr>
          <p:cNvSpPr txBox="1">
            <a:spLocks/>
          </p:cNvSpPr>
          <p:nvPr/>
        </p:nvSpPr>
        <p:spPr>
          <a:xfrm>
            <a:off x="13142258" y="3935904"/>
            <a:ext cx="10327342" cy="8420431"/>
          </a:xfrm>
          <a:prstGeom prst="rect">
            <a:avLst/>
          </a:prstGeom>
        </p:spPr>
        <p:txBody>
          <a:bodyPr vert="horz" lIns="91440" tIns="45720" rIns="91440" bIns="45720" rtlCol="0">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r>
              <a:rPr lang="en-US" b="1"/>
              <a:t>Too Sensitive to Short-Term Moves</a:t>
            </a:r>
            <a:endParaRPr lang="en-US"/>
          </a:p>
          <a:p>
            <a:pPr>
              <a:buFont typeface="Wingdings" pitchFamily="2" charset="2"/>
              <a:buChar char="§"/>
            </a:pPr>
            <a:r>
              <a:rPr lang="en-US"/>
              <a:t>May react too quickly to price spikes, causing premature signals</a:t>
            </a:r>
          </a:p>
          <a:p>
            <a:pPr>
              <a:buNone/>
            </a:pPr>
            <a:r>
              <a:rPr lang="en-US" b="1"/>
              <a:t>Can Overemphasize Noise</a:t>
            </a:r>
            <a:endParaRPr lang="en-US"/>
          </a:p>
          <a:p>
            <a:pPr>
              <a:buFont typeface="Wingdings" pitchFamily="2" charset="2"/>
              <a:buChar char="§"/>
            </a:pPr>
            <a:r>
              <a:rPr lang="en-US"/>
              <a:t>Weighting recent prices more heavily may cause overreactions in volatile markets</a:t>
            </a:r>
          </a:p>
          <a:p>
            <a:pPr>
              <a:buNone/>
            </a:pPr>
            <a:r>
              <a:rPr lang="en-US" b="1"/>
              <a:t>Less Effective in Flat Markets</a:t>
            </a:r>
            <a:endParaRPr lang="en-US"/>
          </a:p>
          <a:p>
            <a:pPr>
              <a:buFont typeface="Wingdings" pitchFamily="2" charset="2"/>
              <a:buChar char="§"/>
            </a:pPr>
            <a:r>
              <a:rPr lang="en-US"/>
              <a:t>Still prone to giving mixed signals when there's no clear trend</a:t>
            </a:r>
          </a:p>
          <a:p>
            <a:pPr>
              <a:buNone/>
            </a:pPr>
            <a:r>
              <a:rPr lang="en-US" b="1"/>
              <a:t>Requires More Confirmation</a:t>
            </a:r>
            <a:endParaRPr lang="en-US"/>
          </a:p>
          <a:p>
            <a:pPr>
              <a:buFont typeface="Wingdings" pitchFamily="2" charset="2"/>
              <a:buChar char="§"/>
            </a:pPr>
            <a:r>
              <a:rPr lang="en-US"/>
              <a:t>Should be used with other tools to avoid acting on misleading crossovers</a:t>
            </a:r>
          </a:p>
        </p:txBody>
      </p:sp>
      <p:sp>
        <p:nvSpPr>
          <p:cNvPr id="13" name="Content Placeholder 6">
            <a:extLst>
              <a:ext uri="{FF2B5EF4-FFF2-40B4-BE49-F238E27FC236}">
                <a16:creationId xmlns:a16="http://schemas.microsoft.com/office/drawing/2014/main" id="{03D189EA-A0AD-1814-16ED-AFB3CB30BD15}"/>
              </a:ext>
            </a:extLst>
          </p:cNvPr>
          <p:cNvSpPr txBox="1">
            <a:spLocks/>
          </p:cNvSpPr>
          <p:nvPr/>
        </p:nvSpPr>
        <p:spPr>
          <a:xfrm>
            <a:off x="13142257" y="3209365"/>
            <a:ext cx="10327342" cy="726540"/>
          </a:xfrm>
          <a:prstGeom prst="rect">
            <a:avLst/>
          </a:prstGeom>
          <a:solidFill>
            <a:srgbClr val="215F9A"/>
          </a:solidFill>
        </p:spPr>
        <p:txBody>
          <a:bodyPr vert="horz" lIns="91440" tIns="45720" rIns="91440" bIns="45720" rtlCol="0">
            <a:no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solidFill>
                  <a:schemeClr val="bg1"/>
                </a:solidFill>
              </a:rPr>
              <a:t>Limitations of EMA</a:t>
            </a:r>
          </a:p>
        </p:txBody>
      </p:sp>
    </p:spTree>
    <p:extLst>
      <p:ext uri="{BB962C8B-B14F-4D97-AF65-F5344CB8AC3E}">
        <p14:creationId xmlns:p14="http://schemas.microsoft.com/office/powerpoint/2010/main" val="40024277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66ECF-90CE-D70F-F86A-C7DAD05665FA}"/>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5E8D04DC-A9B2-6372-1037-46143B98D2C3}"/>
              </a:ext>
            </a:extLst>
          </p:cNvPr>
          <p:cNvSpPr>
            <a:spLocks noGrp="1"/>
          </p:cNvSpPr>
          <p:nvPr>
            <p:ph type="sldNum" sz="quarter" idx="14"/>
          </p:nvPr>
        </p:nvSpPr>
        <p:spPr/>
        <p:txBody>
          <a:bodyPr/>
          <a:lstStyle/>
          <a:p>
            <a:fld id="{86CB4B4D-7CA3-9044-876B-883B54F8677D}" type="slidenum">
              <a:rPr lang="en-US" smtClean="0"/>
              <a:pPr/>
              <a:t>15</a:t>
            </a:fld>
            <a:endParaRPr lang="en-US"/>
          </a:p>
        </p:txBody>
      </p:sp>
      <p:sp>
        <p:nvSpPr>
          <p:cNvPr id="10" name="Title 1">
            <a:extLst>
              <a:ext uri="{FF2B5EF4-FFF2-40B4-BE49-F238E27FC236}">
                <a16:creationId xmlns:a16="http://schemas.microsoft.com/office/drawing/2014/main" id="{05992193-16B4-6C26-9172-FE3066AAEF0C}"/>
              </a:ext>
            </a:extLst>
          </p:cNvPr>
          <p:cNvSpPr>
            <a:spLocks noGrp="1"/>
          </p:cNvSpPr>
          <p:nvPr>
            <p:ph type="title"/>
          </p:nvPr>
        </p:nvSpPr>
        <p:spPr>
          <a:xfrm>
            <a:off x="914399" y="1143000"/>
            <a:ext cx="21031201" cy="1371600"/>
          </a:xfrm>
        </p:spPr>
        <p:txBody>
          <a:bodyPr/>
          <a:lstStyle/>
          <a:p>
            <a:r>
              <a:rPr lang="en-US"/>
              <a:t>Conclusion: SMA vs EMA and When to Use Each</a:t>
            </a:r>
          </a:p>
        </p:txBody>
      </p:sp>
      <p:sp>
        <p:nvSpPr>
          <p:cNvPr id="11" name="Text Placeholder 3">
            <a:extLst>
              <a:ext uri="{FF2B5EF4-FFF2-40B4-BE49-F238E27FC236}">
                <a16:creationId xmlns:a16="http://schemas.microsoft.com/office/drawing/2014/main" id="{C0E3B778-A06F-5745-A83C-43737D94DD71}"/>
              </a:ext>
            </a:extLst>
          </p:cNvPr>
          <p:cNvSpPr>
            <a:spLocks noGrp="1"/>
          </p:cNvSpPr>
          <p:nvPr>
            <p:ph type="body" sz="quarter" idx="13"/>
          </p:nvPr>
        </p:nvSpPr>
        <p:spPr>
          <a:xfrm>
            <a:off x="914399" y="685799"/>
            <a:ext cx="6741459" cy="457200"/>
          </a:xfrm>
        </p:spPr>
        <p:txBody>
          <a:bodyPr/>
          <a:lstStyle/>
          <a:p>
            <a:r>
              <a:rPr lang="en-US"/>
              <a:t>Visualizing SMA Crossovers</a:t>
            </a:r>
            <a:endParaRPr lang="en-US">
              <a:solidFill>
                <a:schemeClr val="tx2">
                  <a:lumMod val="75000"/>
                  <a:lumOff val="25000"/>
                </a:schemeClr>
              </a:solidFill>
            </a:endParaRPr>
          </a:p>
        </p:txBody>
      </p:sp>
      <p:sp>
        <p:nvSpPr>
          <p:cNvPr id="7" name="Content Placeholder 8">
            <a:extLst>
              <a:ext uri="{FF2B5EF4-FFF2-40B4-BE49-F238E27FC236}">
                <a16:creationId xmlns:a16="http://schemas.microsoft.com/office/drawing/2014/main" id="{11F247CC-041B-35D6-9419-9FE2CF4C38C5}"/>
              </a:ext>
            </a:extLst>
          </p:cNvPr>
          <p:cNvSpPr>
            <a:spLocks noGrp="1"/>
          </p:cNvSpPr>
          <p:nvPr>
            <p:ph sz="half" idx="1"/>
          </p:nvPr>
        </p:nvSpPr>
        <p:spPr>
          <a:xfrm>
            <a:off x="914400" y="3935905"/>
            <a:ext cx="10327342" cy="8420431"/>
          </a:xfrm>
        </p:spPr>
        <p:txBody>
          <a:bodyPr>
            <a:normAutofit/>
          </a:bodyPr>
          <a:lstStyle/>
          <a:p>
            <a:pPr>
              <a:buFont typeface="Wingdings" pitchFamily="2" charset="2"/>
              <a:buChar char="§"/>
            </a:pPr>
            <a:r>
              <a:rPr lang="en-US"/>
              <a:t> Equal weight to all n periods</a:t>
            </a:r>
          </a:p>
          <a:p>
            <a:pPr>
              <a:buFont typeface="Wingdings" pitchFamily="2" charset="2"/>
              <a:buChar char="§"/>
            </a:pPr>
            <a:r>
              <a:rPr lang="en-US"/>
              <a:t>Slower to react to price changes</a:t>
            </a:r>
          </a:p>
          <a:p>
            <a:pPr>
              <a:buFont typeface="Wingdings" pitchFamily="2" charset="2"/>
              <a:buChar char="§"/>
            </a:pPr>
            <a:r>
              <a:rPr lang="en-US"/>
              <a:t>Lower Sensitivity</a:t>
            </a:r>
          </a:p>
          <a:p>
            <a:pPr>
              <a:buFont typeface="Wingdings" pitchFamily="2" charset="2"/>
              <a:buChar char="§"/>
            </a:pPr>
            <a:r>
              <a:rPr lang="en-US"/>
              <a:t>Noise is smoother and less choppy</a:t>
            </a:r>
          </a:p>
          <a:p>
            <a:pPr>
              <a:buFont typeface="Wingdings" pitchFamily="2" charset="2"/>
              <a:buChar char="§"/>
            </a:pPr>
            <a:r>
              <a:rPr lang="en-US"/>
              <a:t>Greater lag</a:t>
            </a:r>
          </a:p>
          <a:p>
            <a:pPr marL="0" indent="0">
              <a:buNone/>
            </a:pPr>
            <a:r>
              <a:rPr lang="en-US" b="1"/>
              <a:t>When to Use:</a:t>
            </a:r>
            <a:endParaRPr lang="en-US"/>
          </a:p>
          <a:p>
            <a:pPr>
              <a:buFont typeface="Wingdings" pitchFamily="2" charset="2"/>
              <a:buChar char="§"/>
            </a:pPr>
            <a:r>
              <a:rPr lang="en-US"/>
              <a:t>You're analyzing long-term trends</a:t>
            </a:r>
          </a:p>
          <a:p>
            <a:pPr>
              <a:buFont typeface="Wingdings" pitchFamily="2" charset="2"/>
              <a:buChar char="§"/>
            </a:pPr>
            <a:r>
              <a:rPr lang="en-US"/>
              <a:t>The market is stable or trending gradually</a:t>
            </a:r>
          </a:p>
          <a:p>
            <a:pPr>
              <a:buFont typeface="Wingdings" pitchFamily="2" charset="2"/>
              <a:buChar char="§"/>
            </a:pPr>
            <a:r>
              <a:rPr lang="en-US"/>
              <a:t>You want fewer false signals and smoother averages</a:t>
            </a:r>
          </a:p>
          <a:p>
            <a:pPr>
              <a:buFont typeface="Wingdings" pitchFamily="2" charset="2"/>
              <a:buChar char="§"/>
            </a:pPr>
            <a:r>
              <a:rPr lang="en-US"/>
              <a:t>You're focusing on support/resistance levels over time</a:t>
            </a:r>
          </a:p>
          <a:p>
            <a:pPr>
              <a:buFont typeface="Wingdings" pitchFamily="2" charset="2"/>
              <a:buChar char="§"/>
            </a:pPr>
            <a:r>
              <a:rPr lang="en-US"/>
              <a:t>You're trading position or swing strategies</a:t>
            </a:r>
          </a:p>
        </p:txBody>
      </p:sp>
      <p:sp>
        <p:nvSpPr>
          <p:cNvPr id="12" name="Content Placeholder 6">
            <a:extLst>
              <a:ext uri="{FF2B5EF4-FFF2-40B4-BE49-F238E27FC236}">
                <a16:creationId xmlns:a16="http://schemas.microsoft.com/office/drawing/2014/main" id="{A52B1ED0-6A87-E5F7-1460-D237A576597B}"/>
              </a:ext>
            </a:extLst>
          </p:cNvPr>
          <p:cNvSpPr txBox="1">
            <a:spLocks/>
          </p:cNvSpPr>
          <p:nvPr/>
        </p:nvSpPr>
        <p:spPr>
          <a:xfrm>
            <a:off x="914399" y="3209366"/>
            <a:ext cx="10327342" cy="726540"/>
          </a:xfrm>
          <a:prstGeom prst="rect">
            <a:avLst/>
          </a:prstGeom>
          <a:solidFill>
            <a:srgbClr val="215F9A"/>
          </a:solidFill>
        </p:spPr>
        <p:txBody>
          <a:bodyPr vert="horz" lIns="91440" tIns="45720" rIns="91440" bIns="45720" rtlCol="0">
            <a:no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solidFill>
                  <a:schemeClr val="bg1"/>
                </a:solidFill>
              </a:rPr>
              <a:t>SMA</a:t>
            </a:r>
          </a:p>
        </p:txBody>
      </p:sp>
      <p:sp>
        <p:nvSpPr>
          <p:cNvPr id="13" name="Content Placeholder 8">
            <a:extLst>
              <a:ext uri="{FF2B5EF4-FFF2-40B4-BE49-F238E27FC236}">
                <a16:creationId xmlns:a16="http://schemas.microsoft.com/office/drawing/2014/main" id="{2A3638E4-95A1-E461-371B-B6AA23D9D6F6}"/>
              </a:ext>
            </a:extLst>
          </p:cNvPr>
          <p:cNvSpPr txBox="1">
            <a:spLocks/>
          </p:cNvSpPr>
          <p:nvPr/>
        </p:nvSpPr>
        <p:spPr>
          <a:xfrm>
            <a:off x="13142258" y="3935904"/>
            <a:ext cx="10327342" cy="8420431"/>
          </a:xfrm>
          <a:prstGeom prst="rect">
            <a:avLst/>
          </a:prstGeom>
        </p:spPr>
        <p:txBody>
          <a:bodyPr vert="horz" lIns="91440" tIns="45720" rIns="91440" bIns="45720" rtlCol="0">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Char char="§"/>
            </a:pPr>
            <a:r>
              <a:rPr lang="en-US"/>
              <a:t>More weight to recent data</a:t>
            </a:r>
          </a:p>
          <a:p>
            <a:pPr>
              <a:buFont typeface="Wingdings" pitchFamily="2" charset="2"/>
              <a:buChar char="§"/>
            </a:pPr>
            <a:r>
              <a:rPr lang="en-US"/>
              <a:t>Faster to react </a:t>
            </a:r>
          </a:p>
          <a:p>
            <a:pPr>
              <a:buFont typeface="Wingdings" pitchFamily="2" charset="2"/>
              <a:buChar char="§"/>
            </a:pPr>
            <a:r>
              <a:rPr lang="en-US"/>
              <a:t>Higher Sensitivity</a:t>
            </a:r>
          </a:p>
          <a:p>
            <a:pPr>
              <a:buFont typeface="Wingdings" pitchFamily="2" charset="2"/>
              <a:buChar char="§"/>
            </a:pPr>
            <a:r>
              <a:rPr lang="en-US"/>
              <a:t>Is more reactive, can be noisy</a:t>
            </a:r>
          </a:p>
          <a:p>
            <a:pPr>
              <a:buFont typeface="Wingdings" pitchFamily="2" charset="2"/>
              <a:buChar char="§"/>
            </a:pPr>
            <a:r>
              <a:rPr lang="en-US"/>
              <a:t>Less lag</a:t>
            </a:r>
          </a:p>
          <a:p>
            <a:pPr marL="0" indent="0">
              <a:buNone/>
            </a:pPr>
            <a:r>
              <a:rPr lang="en-US" b="1"/>
              <a:t>When to Use:</a:t>
            </a:r>
          </a:p>
          <a:p>
            <a:pPr>
              <a:buFont typeface="Wingdings" pitchFamily="2" charset="2"/>
              <a:buChar char="§"/>
            </a:pPr>
            <a:r>
              <a:rPr lang="en-US"/>
              <a:t>You're tracking short-term price movements</a:t>
            </a:r>
          </a:p>
          <a:p>
            <a:pPr>
              <a:buFont typeface="Wingdings" pitchFamily="2" charset="2"/>
              <a:buChar char="§"/>
            </a:pPr>
            <a:r>
              <a:rPr lang="en-US"/>
              <a:t>The market is volatile or changing quickly</a:t>
            </a:r>
          </a:p>
          <a:p>
            <a:pPr>
              <a:buFont typeface="Wingdings" pitchFamily="2" charset="2"/>
              <a:buChar char="§"/>
            </a:pPr>
            <a:r>
              <a:rPr lang="en-US"/>
              <a:t>You need faster signals for entries/exits</a:t>
            </a:r>
          </a:p>
          <a:p>
            <a:pPr>
              <a:buFont typeface="Wingdings" pitchFamily="2" charset="2"/>
              <a:buChar char="§"/>
            </a:pPr>
            <a:r>
              <a:rPr lang="en-US"/>
              <a:t>You're doing day trading or scalping</a:t>
            </a:r>
          </a:p>
          <a:p>
            <a:pPr>
              <a:buFont typeface="Wingdings" pitchFamily="2" charset="2"/>
              <a:buChar char="§"/>
            </a:pPr>
            <a:r>
              <a:rPr lang="en-US"/>
              <a:t>You want early confirmation of trend reversals</a:t>
            </a:r>
          </a:p>
        </p:txBody>
      </p:sp>
      <p:sp>
        <p:nvSpPr>
          <p:cNvPr id="14" name="Content Placeholder 6">
            <a:extLst>
              <a:ext uri="{FF2B5EF4-FFF2-40B4-BE49-F238E27FC236}">
                <a16:creationId xmlns:a16="http://schemas.microsoft.com/office/drawing/2014/main" id="{F89530FD-EC3B-4B9D-98FA-B837DE6F531D}"/>
              </a:ext>
            </a:extLst>
          </p:cNvPr>
          <p:cNvSpPr txBox="1">
            <a:spLocks/>
          </p:cNvSpPr>
          <p:nvPr/>
        </p:nvSpPr>
        <p:spPr>
          <a:xfrm>
            <a:off x="13142257" y="3209365"/>
            <a:ext cx="10327342" cy="726540"/>
          </a:xfrm>
          <a:prstGeom prst="rect">
            <a:avLst/>
          </a:prstGeom>
          <a:solidFill>
            <a:srgbClr val="215F9A"/>
          </a:solidFill>
        </p:spPr>
        <p:txBody>
          <a:bodyPr vert="horz" lIns="91440" tIns="45720" rIns="91440" bIns="45720" rtlCol="0">
            <a:no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solidFill>
                  <a:schemeClr val="bg1"/>
                </a:solidFill>
              </a:rPr>
              <a:t>EMA</a:t>
            </a:r>
          </a:p>
        </p:txBody>
      </p:sp>
    </p:spTree>
    <p:extLst>
      <p:ext uri="{BB962C8B-B14F-4D97-AF65-F5344CB8AC3E}">
        <p14:creationId xmlns:p14="http://schemas.microsoft.com/office/powerpoint/2010/main" val="27810816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EA66E0-5CE6-4B16-29F5-CABB96F3A0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E0BFBE-1419-2BCD-343C-1E4B0A5051C4}"/>
              </a:ext>
            </a:extLst>
          </p:cNvPr>
          <p:cNvSpPr>
            <a:spLocks noGrp="1"/>
          </p:cNvSpPr>
          <p:nvPr>
            <p:ph type="title"/>
          </p:nvPr>
        </p:nvSpPr>
        <p:spPr/>
        <p:txBody>
          <a:bodyPr/>
          <a:lstStyle/>
          <a:p>
            <a:r>
              <a:rPr lang="en-US"/>
              <a:t>References</a:t>
            </a:r>
          </a:p>
        </p:txBody>
      </p:sp>
      <p:sp>
        <p:nvSpPr>
          <p:cNvPr id="3" name="Content Placeholder 2">
            <a:extLst>
              <a:ext uri="{FF2B5EF4-FFF2-40B4-BE49-F238E27FC236}">
                <a16:creationId xmlns:a16="http://schemas.microsoft.com/office/drawing/2014/main" id="{6788B7ED-145B-CFEA-B546-D1DAC63DC020}"/>
              </a:ext>
            </a:extLst>
          </p:cNvPr>
          <p:cNvSpPr>
            <a:spLocks noGrp="1"/>
          </p:cNvSpPr>
          <p:nvPr>
            <p:ph idx="1"/>
          </p:nvPr>
        </p:nvSpPr>
        <p:spPr/>
        <p:txBody>
          <a:bodyPr/>
          <a:lstStyle/>
          <a:p>
            <a:r>
              <a:rPr lang="en-US">
                <a:hlinkClick r:id="rId2"/>
              </a:rPr>
              <a:t>https://www.alpharithms.com/moving-averages-083315/</a:t>
            </a:r>
            <a:endParaRPr lang="en-US"/>
          </a:p>
          <a:p>
            <a:r>
              <a:rPr lang="en-US">
                <a:hlinkClick r:id="rId3"/>
              </a:rPr>
              <a:t>https://blog.opofinance.com/en/50-200-day-moving-average-crossover-strategy/</a:t>
            </a:r>
            <a:endParaRPr lang="en-US"/>
          </a:p>
          <a:p>
            <a:r>
              <a:rPr lang="en-US">
                <a:hlinkClick r:id="rId4"/>
              </a:rPr>
              <a:t>https://www.simtrade.fr/blog_simtrade/moving-averages/</a:t>
            </a:r>
            <a:endParaRPr lang="en-US"/>
          </a:p>
          <a:p>
            <a:r>
              <a:rPr lang="en-US"/>
              <a:t>https://</a:t>
            </a:r>
            <a:r>
              <a:rPr lang="en-US" err="1"/>
              <a:t>www.babypips.com</a:t>
            </a:r>
            <a:r>
              <a:rPr lang="en-US"/>
              <a:t>/learn/forex/dynamic-support-and-resistance</a:t>
            </a:r>
          </a:p>
        </p:txBody>
      </p:sp>
      <p:sp>
        <p:nvSpPr>
          <p:cNvPr id="4" name="Text Placeholder 3">
            <a:extLst>
              <a:ext uri="{FF2B5EF4-FFF2-40B4-BE49-F238E27FC236}">
                <a16:creationId xmlns:a16="http://schemas.microsoft.com/office/drawing/2014/main" id="{80B14D41-DA0F-A7FF-D526-A1979B4A6F1E}"/>
              </a:ext>
            </a:extLst>
          </p:cNvPr>
          <p:cNvSpPr>
            <a:spLocks noGrp="1"/>
          </p:cNvSpPr>
          <p:nvPr>
            <p:ph type="body" sz="quarter" idx="13"/>
          </p:nvPr>
        </p:nvSpPr>
        <p:spPr/>
        <p:txBody>
          <a:bodyPr/>
          <a:lstStyle/>
          <a:p>
            <a:r>
              <a:rPr lang="en-US"/>
              <a:t>Visualizing SMA Crossovers</a:t>
            </a:r>
            <a:endParaRPr lang="en-US">
              <a:solidFill>
                <a:schemeClr val="tx2">
                  <a:lumMod val="75000"/>
                  <a:lumOff val="25000"/>
                </a:schemeClr>
              </a:solidFill>
            </a:endParaRPr>
          </a:p>
        </p:txBody>
      </p:sp>
      <p:sp>
        <p:nvSpPr>
          <p:cNvPr id="5" name="Slide Number Placeholder 4">
            <a:extLst>
              <a:ext uri="{FF2B5EF4-FFF2-40B4-BE49-F238E27FC236}">
                <a16:creationId xmlns:a16="http://schemas.microsoft.com/office/drawing/2014/main" id="{88A66F66-2BE0-8A56-A34A-F4CB2561BFCC}"/>
              </a:ext>
            </a:extLst>
          </p:cNvPr>
          <p:cNvSpPr>
            <a:spLocks noGrp="1"/>
          </p:cNvSpPr>
          <p:nvPr>
            <p:ph type="sldNum" sz="quarter" idx="2"/>
          </p:nvPr>
        </p:nvSpPr>
        <p:spPr/>
        <p:txBody>
          <a:bodyPr/>
          <a:lstStyle/>
          <a:p>
            <a:fld id="{86CB4B4D-7CA3-9044-876B-883B54F8677D}" type="slidenum">
              <a:rPr lang="en-US" smtClean="0"/>
              <a:pPr/>
              <a:t>18</a:t>
            </a:fld>
            <a:endParaRPr lang="en-US"/>
          </a:p>
        </p:txBody>
      </p:sp>
    </p:spTree>
    <p:extLst>
      <p:ext uri="{BB962C8B-B14F-4D97-AF65-F5344CB8AC3E}">
        <p14:creationId xmlns:p14="http://schemas.microsoft.com/office/powerpoint/2010/main" val="31433430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058363"/>
      </p:ext>
    </p:extLst>
  </p:cSld>
  <p:clrMapOvr>
    <a:masterClrMapping/>
  </p:clrMapOvr>
</p:sld>
</file>

<file path=ppt/theme/theme1.xml><?xml version="1.0" encoding="utf-8"?>
<a:theme xmlns:a="http://schemas.openxmlformats.org/drawingml/2006/main" name="Covers">
  <a:themeElements>
    <a:clrScheme name="Bonjoy Brand">
      <a:dk1>
        <a:srgbClr val="F5F5F6"/>
      </a:dk1>
      <a:lt1>
        <a:srgbClr val="667085"/>
      </a:lt1>
      <a:dk2>
        <a:srgbClr val="93969C"/>
      </a:dk2>
      <a:lt2>
        <a:srgbClr val="93969C"/>
      </a:lt2>
      <a:accent1>
        <a:srgbClr val="026994"/>
      </a:accent1>
      <a:accent2>
        <a:srgbClr val="0075A7"/>
      </a:accent2>
      <a:accent3>
        <a:srgbClr val="0075A7"/>
      </a:accent3>
      <a:accent4>
        <a:srgbClr val="0093CF"/>
      </a:accent4>
      <a:accent5>
        <a:srgbClr val="05B7F2"/>
      </a:accent5>
      <a:accent6>
        <a:srgbClr val="30CDFF"/>
      </a:accent6>
      <a:hlink>
        <a:srgbClr val="05B7F2"/>
      </a:hlink>
      <a:folHlink>
        <a:srgbClr val="05344C"/>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2025 TradersAtSMU Template" id="{8CB0D442-75FD-4C44-892B-3852F376C9F8}" vid="{00AE70A0-4A1F-C247-AB39-09BD0962EE3B}"/>
    </a:ext>
  </a:extLst>
</a:theme>
</file>

<file path=ppt/theme/theme2.xml><?xml version="1.0" encoding="utf-8"?>
<a:theme xmlns:a="http://schemas.openxmlformats.org/drawingml/2006/main" name="Content">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2025 TradersAtSMU Template" id="{8CB0D442-75FD-4C44-892B-3852F376C9F8}" vid="{931399C6-1BE7-DC46-ADF7-8F94B3D304D6}"/>
    </a:ext>
  </a:extLst>
</a:theme>
</file>

<file path=ppt/theme/theme3.xml><?xml version="1.0" encoding="utf-8"?>
<a:theme xmlns:a="http://schemas.openxmlformats.org/drawingml/2006/main" name="Sections">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2025 TradersAtSMU Template" id="{8CB0D442-75FD-4C44-892B-3852F376C9F8}" vid="{C0359CAB-40A0-EA4B-8F6D-950F4948605F}"/>
    </a:ext>
  </a:extLst>
</a:theme>
</file>

<file path=ppt/theme/theme4.xml><?xml version="1.0" encoding="utf-8"?>
<a:theme xmlns:a="http://schemas.openxmlformats.org/drawingml/2006/main" name="Closing">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2025 TradersAtSMU Template" id="{8CB0D442-75FD-4C44-892B-3852F376C9F8}" vid="{401B2189-6F5A-D547-9427-ACEB6E48A550}"/>
    </a:ext>
  </a:extLst>
</a:theme>
</file>

<file path=ppt/theme/theme5.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FB6CB155FAA9D4B80B7B64B6B4FA188" ma:contentTypeVersion="12" ma:contentTypeDescription="Create a new document." ma:contentTypeScope="" ma:versionID="6dedcad094c6825a2d2265a3204ca033">
  <xsd:schema xmlns:xsd="http://www.w3.org/2001/XMLSchema" xmlns:xs="http://www.w3.org/2001/XMLSchema" xmlns:p="http://schemas.microsoft.com/office/2006/metadata/properties" xmlns:ns2="6c9a0161-f457-41a4-b533-3bd003b535df" xmlns:ns3="096a6368-7521-4ee3-8a8d-a1311be675ab" targetNamespace="http://schemas.microsoft.com/office/2006/metadata/properties" ma:root="true" ma:fieldsID="a3468b99455168ddc1284ddf0e7fed9d" ns2:_="" ns3:_="">
    <xsd:import namespace="6c9a0161-f457-41a4-b533-3bd003b535df"/>
    <xsd:import namespace="096a6368-7521-4ee3-8a8d-a1311be675a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lcf76f155ced4ddcb4097134ff3c332f" minOccurs="0"/>
                <xsd:element ref="ns3:TaxCatchAll"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c9a0161-f457-41a4-b533-3bd003b535d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851a94d3-361c-4fb2-8e79-cb69b3aef043"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Location" ma:index="19"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96a6368-7521-4ee3-8a8d-a1311be675ab"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40d937db-1fcf-48ac-96a0-f416ad14630a}" ma:internalName="TaxCatchAll" ma:showField="CatchAllData" ma:web="096a6368-7521-4ee3-8a8d-a1311be675a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096a6368-7521-4ee3-8a8d-a1311be675ab" xsi:nil="true"/>
    <lcf76f155ced4ddcb4097134ff3c332f xmlns="6c9a0161-f457-41a4-b533-3bd003b535df">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BBDA7368-A5EA-47DC-80E1-7E5D350EE727}">
  <ds:schemaRefs>
    <ds:schemaRef ds:uri="096a6368-7521-4ee3-8a8d-a1311be675ab"/>
    <ds:schemaRef ds:uri="6c9a0161-f457-41a4-b533-3bd003b535d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ABADD460-6E7B-447D-965A-9247448391A5}">
  <ds:schemaRefs>
    <ds:schemaRef ds:uri="http://schemas.microsoft.com/sharepoint/v3/contenttype/forms"/>
  </ds:schemaRefs>
</ds:datastoreItem>
</file>

<file path=customXml/itemProps3.xml><?xml version="1.0" encoding="utf-8"?>
<ds:datastoreItem xmlns:ds="http://schemas.openxmlformats.org/officeDocument/2006/customXml" ds:itemID="{5579851F-D594-4436-AA2A-42EDEC9C9E16}">
  <ds:schemaRefs>
    <ds:schemaRef ds:uri="096a6368-7521-4ee3-8a8d-a1311be675ab"/>
    <ds:schemaRef ds:uri="6c9a0161-f457-41a4-b533-3bd003b535d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Covers</Template>
  <Application>Microsoft Office PowerPoint</Application>
  <PresentationFormat>Custom</PresentationFormat>
  <Slides>19</Slides>
  <Notes>3</Notes>
  <HiddenSlides>0</HiddenSlides>
  <ScaleCrop>false</ScaleCrop>
  <HeadingPairs>
    <vt:vector size="4" baseType="variant">
      <vt:variant>
        <vt:lpstr>Theme</vt:lpstr>
      </vt:variant>
      <vt:variant>
        <vt:i4>4</vt:i4>
      </vt:variant>
      <vt:variant>
        <vt:lpstr>Slide Titles</vt:lpstr>
      </vt:variant>
      <vt:variant>
        <vt:i4>19</vt:i4>
      </vt:variant>
    </vt:vector>
  </HeadingPairs>
  <TitlesOfParts>
    <vt:vector size="23" baseType="lpstr">
      <vt:lpstr>Covers</vt:lpstr>
      <vt:lpstr>Content</vt:lpstr>
      <vt:lpstr>Sections</vt:lpstr>
      <vt:lpstr>Closing</vt:lpstr>
      <vt:lpstr>Visualizing SMA Crossovers</vt:lpstr>
      <vt:lpstr>Agenda</vt:lpstr>
      <vt:lpstr>What is a Moving Average?</vt:lpstr>
      <vt:lpstr>Why use Moving Averages in Trading?</vt:lpstr>
      <vt:lpstr>How can we use moving average crossovers as a technical indicator in backtesting?</vt:lpstr>
      <vt:lpstr>How Moving Average Smoothens Out Noise</vt:lpstr>
      <vt:lpstr>SMA – Simple Moving Average</vt:lpstr>
      <vt:lpstr>Trend Direction and Price Action</vt:lpstr>
      <vt:lpstr>SMA Crossover Model (n=50,200)</vt:lpstr>
      <vt:lpstr>SMA Crossover Results NVDA</vt:lpstr>
      <vt:lpstr>EMA – Exponential Moving Average</vt:lpstr>
      <vt:lpstr>EMA Strategy</vt:lpstr>
      <vt:lpstr>EMA – Results</vt:lpstr>
      <vt:lpstr>EMA – Results</vt:lpstr>
      <vt:lpstr>Support and Resistance</vt:lpstr>
      <vt:lpstr>Limitations of SMA and EMA</vt:lpstr>
      <vt:lpstr>Conclusion: SMA vs EMA and When to Use Each</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Margolis Praun, Georgina</dc:creator>
  <cp:revision>3</cp:revision>
  <dcterms:created xsi:type="dcterms:W3CDTF">2025-04-29T00:10:19Z</dcterms:created>
  <dcterms:modified xsi:type="dcterms:W3CDTF">2025-04-30T20:54:53Z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0x0101000FB6CB155FAA9D4B80B7B64B6B4FA188</vt:lpwstr>
  </property>
  <property fmtid="{D5CDD505-2E9C-101B-9397-08002B2CF9AE}" pid="3" name="MediaServiceImageTags">
    <vt:lpwstr/>
  </property>
</Properties>
</file>